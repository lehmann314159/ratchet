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PART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Verbs and the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The architecture, in the detail that lets you argue with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Part 2 of 6. Quick recap: a design doc gets broken into beads — small, independently verifiable units of work — and each one is driven through a fixed sequence of narrow model calls called verbs. This piece is about how that actually works.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6263640"/>
            <a:ext cx="146304" cy="146304"/>
          </a:xfrm>
          <a:prstGeom prst="ellipse">
            <a:avLst/>
          </a:prstGeom>
          <a:solidFill>
            <a:srgbClr val="9AC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79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4883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688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database is the ground truth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Ratchet is not a long-running agent with state in memory — it's a SQLite database and a daemon that repeatedly asks it "what's the next job to run?"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Every project, bead, model call, and decision lives in a row: projects, beads, bead_revisions, handoff_jobs, executions, adjudications, test_refinements.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This is what makes two things possible: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an operator recovers a stuck project by querying a table instead of reading scrollback, and a benchmarking harness can replay a real historical decision — because "what happened" is a row, not a memory that evaporated when the process exited.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Four state machines, nested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1" i="0">
                <a:solidFill>
                  <a:srgbClr val="1C1E22"/>
                </a:solidFill>
                <a:latin typeface="Calibri"/>
              </a:rPr>
              <a:t>1. Project status —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active, paused, full_stopped, complete, or fixture.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1" i="0">
                <a:solidFill>
                  <a:srgbClr val="1C1E22"/>
                </a:solidFill>
                <a:latin typeface="Calibri"/>
              </a:rPr>
              <a:t>2. Bootstrap —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runs once, before any bead executes: survey, decompose, audit the plan.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1" i="0">
                <a:solidFill>
                  <a:srgbClr val="1C1E22"/>
                </a:solidFill>
                <a:latin typeface="Calibri"/>
              </a:rPr>
              <a:t>3. Per-bead pipeline —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where most of the complexity lives: write, review, execute, adjudicate.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1" i="0">
                <a:solidFill>
                  <a:srgbClr val="1C1E22"/>
                </a:solidFill>
                <a:latin typeface="Calibri"/>
              </a:rPr>
              <a:t>4. Generic job status —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underneath everything: pending → running → complete, with retry and escalation.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DIAGRAM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C1E22"/>
                </a:solidFill>
                <a:latin typeface="Georgia"/>
              </a:rPr>
              <a:t>Project status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1">
                <a:solidFill>
                  <a:srgbClr val="5F636B"/>
                </a:solidFill>
                <a:latin typeface="Calibri"/>
              </a:rPr>
              <a:t>Most of a project's life is spent active. paused and fixture are recoverable; complete and full_stopped are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3520440"/>
            <a:ext cx="210312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783080"/>
            <a:ext cx="2103120" cy="640080"/>
          </a:xfrm>
          <a:prstGeom prst="roundRect">
            <a:avLst/>
          </a:prstGeom>
          <a:solidFill>
            <a:srgbClr val="F1EFEA"/>
          </a:solidFill>
          <a:ln w="15875">
            <a:solidFill>
              <a:srgbClr val="5F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paused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331720"/>
            <a:ext cx="2286000" cy="685800"/>
          </a:xfrm>
          <a:prstGeom prst="roundRect">
            <a:avLst/>
          </a:prstGeom>
          <a:solidFill>
            <a:srgbClr val="E7EFE1"/>
          </a:solidFill>
          <a:ln w="15875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4617720"/>
            <a:ext cx="2286000" cy="685800"/>
          </a:xfrm>
          <a:prstGeom prst="roundRect">
            <a:avLst/>
          </a:prstGeom>
          <a:solidFill>
            <a:srgbClr val="F2E0DC"/>
          </a:solidFill>
          <a:ln w="15875">
            <a:solidFill>
              <a:srgbClr val="A8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full_stopped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166360"/>
            <a:ext cx="2286000" cy="685800"/>
          </a:xfrm>
          <a:prstGeom prst="roundRect">
            <a:avLst/>
          </a:prstGeom>
          <a:solidFill>
            <a:srgbClr val="F1EFEA"/>
          </a:solidFill>
          <a:ln w="15875">
            <a:solidFill>
              <a:srgbClr val="5F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fixture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3863339"/>
            <a:ext cx="182880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10" idx="0"/>
            <a:endCxn id="11" idx="2"/>
          </p:cNvCxnSpPr>
          <p:nvPr/>
        </p:nvCxnSpPr>
        <p:spPr>
          <a:xfrm flipV="1" flipH="1">
            <a:off x="3337560" y="2423160"/>
            <a:ext cx="0" cy="109728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684679" y="2834640"/>
            <a:ext cx="1305763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4679" y="2834640"/>
            <a:ext cx="1305763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pause ⇄ resume</a:t>
            </a:r>
          </a:p>
        </p:txBody>
      </p:sp>
      <p:cxnSp>
        <p:nvCxnSpPr>
          <p:cNvPr id="19" name="Connector 18"/>
          <p:cNvCxnSpPr>
            <a:stCxn id="10" idx="1"/>
            <a:endCxn id="12" idx="3"/>
          </p:cNvCxnSpPr>
          <p:nvPr/>
        </p:nvCxnSpPr>
        <p:spPr>
          <a:xfrm flipV="1">
            <a:off x="2286000" y="2674620"/>
            <a:ext cx="8961120" cy="118872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872277" y="3131820"/>
            <a:ext cx="1605686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2277" y="3131820"/>
            <a:ext cx="160568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last bead succeeds</a:t>
            </a:r>
          </a:p>
        </p:txBody>
      </p:sp>
      <p:cxnSp>
        <p:nvCxnSpPr>
          <p:cNvPr id="22" name="Connector 21"/>
          <p:cNvCxnSpPr>
            <a:stCxn id="10" idx="2"/>
            <a:endCxn id="13" idx="0"/>
          </p:cNvCxnSpPr>
          <p:nvPr/>
        </p:nvCxnSpPr>
        <p:spPr>
          <a:xfrm>
            <a:off x="3337560" y="4206240"/>
            <a:ext cx="6766560" cy="41148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917997" y="4274820"/>
            <a:ext cx="1605686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7997" y="4274820"/>
            <a:ext cx="160568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recovery exhausted</a:t>
            </a:r>
          </a:p>
        </p:txBody>
      </p:sp>
      <p:cxnSp>
        <p:nvCxnSpPr>
          <p:cNvPr id="25" name="Connector 24"/>
          <p:cNvCxnSpPr>
            <a:stCxn id="10" idx="3"/>
            <a:endCxn id="14" idx="1"/>
          </p:cNvCxnSpPr>
          <p:nvPr/>
        </p:nvCxnSpPr>
        <p:spPr>
          <a:xfrm flipH="1">
            <a:off x="2286000" y="3863340"/>
            <a:ext cx="2103120" cy="164592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701138" y="4549140"/>
            <a:ext cx="1455724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1138" y="4549140"/>
            <a:ext cx="145572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saved as fixture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Runs once, before bead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SURVEY_SPEC → VERIFY_MANIFEST → CERTIFY_MANIFEST → DECOMPOSE_SPEC → AUDIT_DECOMPOSITION → (RECONCILE_DECOMPOSITION if needed) → DECOMPOSITION_APPROVED.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VERIFY_MANIFEST is model-free.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mechanical check, not a model call — not everything needs a model.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AUDIT_DECOMPOSITION is a second model reviewing the plan.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Before any code is written: does the decomposition cover the doc, is it correctly ordered? RECONCILE negotiates a fix, capped at two rounds before it escalates.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Both retry loops are governed by a mechanical structural check, not a model's opinion — three chances each before full-stop or escalation.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DIAGRAM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C1E22"/>
                </a:solidFill>
                <a:latin typeface="Georgia"/>
              </a:rPr>
              <a:t>Bootstrap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1">
                <a:solidFill>
                  <a:srgbClr val="5F636B"/>
                </a:solidFill>
                <a:latin typeface="Calibri"/>
              </a:rPr>
              <a:t>Two independent, mechanically-governed retry loops — neither is a model's judgment 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06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" y="3291840"/>
            <a:ext cx="16002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SURVEY_SPEC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3291840"/>
            <a:ext cx="16916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VERIFY_MANIFEST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3291840"/>
            <a:ext cx="16916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CERTIFY_MANIFEST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3291840"/>
            <a:ext cx="16459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DECOMPOSE_SPEC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291840"/>
            <a:ext cx="1874519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C1E22"/>
                </a:solidFill>
                <a:latin typeface="Consolas"/>
              </a:rPr>
              <a:t>AUDIT_DECOMPOSITION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3291840"/>
            <a:ext cx="2148840" cy="731520"/>
          </a:xfrm>
          <a:prstGeom prst="roundRect">
            <a:avLst/>
          </a:prstGeom>
          <a:solidFill>
            <a:srgbClr val="E7EFE1"/>
          </a:solidFill>
          <a:ln w="15875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C1E22"/>
                </a:solidFill>
                <a:latin typeface="Consolas"/>
              </a:rPr>
              <a:t>DECOMPOSITION_APPROVED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5074920"/>
            <a:ext cx="1874519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C1E22"/>
                </a:solidFill>
                <a:latin typeface="Consolas"/>
              </a:rPr>
              <a:t>RECONCILE_DECOMPOSITION</a:t>
            </a:r>
          </a:p>
        </p:txBody>
      </p:sp>
      <p:cxnSp>
        <p:nvCxnSpPr>
          <p:cNvPr id="17" name="Connector 16"/>
          <p:cNvCxnSpPr>
            <a:stCxn id="10" idx="1"/>
            <a:endCxn id="11" idx="3"/>
          </p:cNvCxnSpPr>
          <p:nvPr/>
        </p:nvCxnSpPr>
        <p:spPr>
          <a:xfrm flipV="1">
            <a:off x="320040" y="3657600"/>
            <a:ext cx="342900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11" idx="1"/>
            <a:endCxn id="12" idx="3"/>
          </p:cNvCxnSpPr>
          <p:nvPr/>
        </p:nvCxnSpPr>
        <p:spPr>
          <a:xfrm flipV="1">
            <a:off x="2057400" y="3657600"/>
            <a:ext cx="352044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2" idx="1"/>
            <a:endCxn id="13" idx="3"/>
          </p:cNvCxnSpPr>
          <p:nvPr/>
        </p:nvCxnSpPr>
        <p:spPr>
          <a:xfrm flipV="1">
            <a:off x="3886200" y="3657600"/>
            <a:ext cx="347472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18481" y="2971800"/>
            <a:ext cx="855878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8481" y="2971800"/>
            <a:ext cx="85587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approved</a:t>
            </a:r>
          </a:p>
        </p:txBody>
      </p:sp>
      <p:cxnSp>
        <p:nvCxnSpPr>
          <p:cNvPr id="22" name="Connector 21"/>
          <p:cNvCxnSpPr>
            <a:stCxn id="12" idx="0"/>
            <a:endCxn id="10" idx="0"/>
          </p:cNvCxnSpPr>
          <p:nvPr/>
        </p:nvCxnSpPr>
        <p:spPr>
          <a:xfrm flipH="1">
            <a:off x="1120140" y="3291840"/>
            <a:ext cx="3611880" cy="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198218" y="2240280"/>
            <a:ext cx="1455724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8218" y="2240280"/>
            <a:ext cx="145572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rejected (cap 5)</a:t>
            </a:r>
          </a:p>
        </p:txBody>
      </p:sp>
      <p:cxnSp>
        <p:nvCxnSpPr>
          <p:cNvPr id="25" name="Connector 24"/>
          <p:cNvCxnSpPr>
            <a:stCxn id="13" idx="1"/>
            <a:endCxn id="14" idx="3"/>
          </p:cNvCxnSpPr>
          <p:nvPr/>
        </p:nvCxnSpPr>
        <p:spPr>
          <a:xfrm flipV="1">
            <a:off x="5715000" y="3657600"/>
            <a:ext cx="3657598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4" idx="1"/>
            <a:endCxn id="15" idx="3"/>
          </p:cNvCxnSpPr>
          <p:nvPr/>
        </p:nvCxnSpPr>
        <p:spPr>
          <a:xfrm flipV="1">
            <a:off x="7498079" y="3657600"/>
            <a:ext cx="4160521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975750" y="2971800"/>
            <a:ext cx="930859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5750" y="2971800"/>
            <a:ext cx="93085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no issues</a:t>
            </a:r>
          </a:p>
        </p:txBody>
      </p:sp>
      <p:cxnSp>
        <p:nvCxnSpPr>
          <p:cNvPr id="29" name="Connector 28"/>
          <p:cNvCxnSpPr>
            <a:stCxn id="14" idx="2"/>
            <a:endCxn id="16" idx="0"/>
          </p:cNvCxnSpPr>
          <p:nvPr/>
        </p:nvCxnSpPr>
        <p:spPr>
          <a:xfrm flipH="1">
            <a:off x="8435338" y="4023360"/>
            <a:ext cx="0" cy="105156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857438" y="4411980"/>
            <a:ext cx="1155801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57438" y="4411980"/>
            <a:ext cx="1155801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issues found</a:t>
            </a:r>
          </a:p>
        </p:txBody>
      </p:sp>
      <p:cxnSp>
        <p:nvCxnSpPr>
          <p:cNvPr id="32" name="Connector 31"/>
          <p:cNvCxnSpPr>
            <a:stCxn id="16" idx="3"/>
            <a:endCxn id="14" idx="3"/>
          </p:cNvCxnSpPr>
          <p:nvPr/>
        </p:nvCxnSpPr>
        <p:spPr>
          <a:xfrm flipV="1" flipH="1">
            <a:off x="9372598" y="3657600"/>
            <a:ext cx="0" cy="178308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507784" y="4732020"/>
            <a:ext cx="198059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7784" y="4732020"/>
            <a:ext cx="198059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disagree, retry (cap 2)</a:t>
            </a:r>
          </a:p>
        </p:txBody>
      </p:sp>
      <p:cxnSp>
        <p:nvCxnSpPr>
          <p:cNvPr id="35" name="Connector 34"/>
          <p:cNvCxnSpPr>
            <a:stCxn id="16" idx="1"/>
            <a:endCxn id="15" idx="2"/>
          </p:cNvCxnSpPr>
          <p:nvPr/>
        </p:nvCxnSpPr>
        <p:spPr>
          <a:xfrm flipV="1">
            <a:off x="7498079" y="4023360"/>
            <a:ext cx="3086101" cy="141732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512960" y="4594860"/>
            <a:ext cx="930859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12960" y="4594860"/>
            <a:ext cx="93085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converged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PER-BEAD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Write → review → execute → decide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WRITE (compiles) → CRITIQUE → JUDGE → [approved] → EXECUTE → ANALYZE → COMPRESS → ADJUDICATE.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ADJUDICATE's menu: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execute as-is, execute revised, reject the test, re-refine (back to review), declare success, or full-stop.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test_reject only exists in "test-first" mode.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In the common REFINE_TESTS mode, a genuinely bad test can never be silently patched around — it goes back through re_refine into the review chain.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re_refine bypasses the attempt cap on purpose.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"The test was wrong" is accounted differently than "the model couldn't implement a correct test."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DIAGRAM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C1E22"/>
                </a:solidFill>
                <a:latin typeface="Georgia"/>
              </a:rPr>
              <a:t>The per-bead pipeline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1">
                <a:solidFill>
                  <a:srgbClr val="5F636B"/>
                </a:solidFill>
                <a:latin typeface="Calibri"/>
              </a:rPr>
              <a:t>Where most of the complexity lives. Two loops feed back in — one above the spine, one below.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08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" y="3291840"/>
            <a:ext cx="14173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WRITE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291840"/>
            <a:ext cx="14173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CRITIQUE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291840"/>
            <a:ext cx="128016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JUDGE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3291840"/>
            <a:ext cx="14173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EXECUTE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291840"/>
            <a:ext cx="14173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C1E22"/>
                </a:solidFill>
                <a:latin typeface="Consolas"/>
              </a:rPr>
              <a:t>ANALYZE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291840"/>
            <a:ext cx="150876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C1E22"/>
                </a:solidFill>
                <a:latin typeface="Consolas"/>
              </a:rPr>
              <a:t>COMPRESS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3291840"/>
            <a:ext cx="173736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C1E22"/>
                </a:solidFill>
                <a:latin typeface="Consolas"/>
              </a:rPr>
              <a:t>ADJUDICATE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5212080"/>
            <a:ext cx="1234440" cy="502920"/>
          </a:xfrm>
          <a:prstGeom prst="roundRect">
            <a:avLst/>
          </a:prstGeom>
          <a:solidFill>
            <a:srgbClr val="E7EFE1"/>
          </a:solidFill>
          <a:ln w="15875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C1E22"/>
                </a:solidFill>
                <a:latin typeface="Consolas"/>
              </a:rPr>
              <a:t>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61320" y="5212080"/>
            <a:ext cx="1554480" cy="502920"/>
          </a:xfrm>
          <a:prstGeom prst="roundRect">
            <a:avLst/>
          </a:prstGeom>
          <a:solidFill>
            <a:srgbClr val="F2E0DC"/>
          </a:solidFill>
          <a:ln w="15875">
            <a:solidFill>
              <a:srgbClr val="A8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C1E22"/>
                </a:solidFill>
                <a:latin typeface="Consolas"/>
              </a:rPr>
              <a:t>full_stop</a:t>
            </a:r>
          </a:p>
        </p:txBody>
      </p:sp>
      <p:cxnSp>
        <p:nvCxnSpPr>
          <p:cNvPr id="19" name="Connector 18"/>
          <p:cNvCxnSpPr>
            <a:stCxn id="10" idx="1"/>
            <a:endCxn id="11" idx="3"/>
          </p:cNvCxnSpPr>
          <p:nvPr/>
        </p:nvCxnSpPr>
        <p:spPr>
          <a:xfrm flipV="1">
            <a:off x="365760" y="3657600"/>
            <a:ext cx="297180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423721" y="2971800"/>
            <a:ext cx="855878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3721" y="2971800"/>
            <a:ext cx="85587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compiles</a:t>
            </a:r>
          </a:p>
        </p:txBody>
      </p:sp>
      <p:cxnSp>
        <p:nvCxnSpPr>
          <p:cNvPr id="22" name="Connector 21"/>
          <p:cNvCxnSpPr>
            <a:stCxn id="11" idx="1"/>
            <a:endCxn id="12" idx="3"/>
          </p:cNvCxnSpPr>
          <p:nvPr/>
        </p:nvCxnSpPr>
        <p:spPr>
          <a:xfrm flipV="1">
            <a:off x="1920240" y="3657600"/>
            <a:ext cx="283464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2" idx="0"/>
            <a:endCxn id="10" idx="0"/>
          </p:cNvCxnSpPr>
          <p:nvPr/>
        </p:nvCxnSpPr>
        <p:spPr>
          <a:xfrm flipH="1">
            <a:off x="1074420" y="3291840"/>
            <a:ext cx="3040380" cy="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054200" y="2240280"/>
            <a:ext cx="108082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4200" y="2240280"/>
            <a:ext cx="10808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revise (≤5)</a:t>
            </a:r>
          </a:p>
        </p:txBody>
      </p:sp>
      <p:cxnSp>
        <p:nvCxnSpPr>
          <p:cNvPr id="26" name="Connector 25"/>
          <p:cNvCxnSpPr>
            <a:stCxn id="12" idx="1"/>
            <a:endCxn id="13" idx="3"/>
          </p:cNvCxnSpPr>
          <p:nvPr/>
        </p:nvCxnSpPr>
        <p:spPr>
          <a:xfrm flipV="1">
            <a:off x="3474720" y="3657600"/>
            <a:ext cx="283464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395521" y="2971800"/>
            <a:ext cx="855878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5521" y="2971800"/>
            <a:ext cx="85587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approved</a:t>
            </a:r>
          </a:p>
        </p:txBody>
      </p:sp>
      <p:cxnSp>
        <p:nvCxnSpPr>
          <p:cNvPr id="29" name="Connector 28"/>
          <p:cNvCxnSpPr>
            <a:stCxn id="13" idx="1"/>
            <a:endCxn id="14" idx="3"/>
          </p:cNvCxnSpPr>
          <p:nvPr/>
        </p:nvCxnSpPr>
        <p:spPr>
          <a:xfrm flipV="1">
            <a:off x="4892040" y="3657600"/>
            <a:ext cx="297180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4" idx="1"/>
            <a:endCxn id="15" idx="3"/>
          </p:cNvCxnSpPr>
          <p:nvPr/>
        </p:nvCxnSpPr>
        <p:spPr>
          <a:xfrm flipV="1">
            <a:off x="6446520" y="3657600"/>
            <a:ext cx="306324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5" idx="1"/>
            <a:endCxn id="16" idx="3"/>
          </p:cNvCxnSpPr>
          <p:nvPr/>
        </p:nvCxnSpPr>
        <p:spPr>
          <a:xfrm flipV="1">
            <a:off x="8001000" y="3657600"/>
            <a:ext cx="338328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6" idx="0"/>
            <a:endCxn id="13" idx="0"/>
          </p:cNvCxnSpPr>
          <p:nvPr/>
        </p:nvCxnSpPr>
        <p:spPr>
          <a:xfrm flipH="1">
            <a:off x="5600700" y="3291840"/>
            <a:ext cx="4914900" cy="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067855" y="2240280"/>
            <a:ext cx="198059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67855" y="2240280"/>
            <a:ext cx="198059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retry, as-is or revised</a:t>
            </a:r>
          </a:p>
        </p:txBody>
      </p:sp>
      <p:cxnSp>
        <p:nvCxnSpPr>
          <p:cNvPr id="35" name="Connector 34"/>
          <p:cNvCxnSpPr>
            <a:stCxn id="16" idx="2"/>
            <a:endCxn id="12" idx="2"/>
          </p:cNvCxnSpPr>
          <p:nvPr/>
        </p:nvCxnSpPr>
        <p:spPr>
          <a:xfrm flipH="1" flipV="1">
            <a:off x="4114800" y="4023360"/>
            <a:ext cx="6400800" cy="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63640" y="4800600"/>
            <a:ext cx="210312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800600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re_refine — test was wrong</a:t>
            </a:r>
          </a:p>
        </p:txBody>
      </p:sp>
      <p:cxnSp>
        <p:nvCxnSpPr>
          <p:cNvPr id="38" name="Connector 37"/>
          <p:cNvCxnSpPr>
            <a:stCxn id="16" idx="2"/>
            <a:endCxn id="17" idx="0"/>
          </p:cNvCxnSpPr>
          <p:nvPr/>
        </p:nvCxnSpPr>
        <p:spPr>
          <a:xfrm flipH="1">
            <a:off x="9761220" y="4023360"/>
            <a:ext cx="754380" cy="118872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448038" y="4480560"/>
            <a:ext cx="1380744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48038" y="4480560"/>
            <a:ext cx="138074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declare_success</a:t>
            </a:r>
          </a:p>
        </p:txBody>
      </p:sp>
      <p:cxnSp>
        <p:nvCxnSpPr>
          <p:cNvPr id="41" name="Connector 40"/>
          <p:cNvCxnSpPr>
            <a:stCxn id="16" idx="1"/>
            <a:endCxn id="18" idx="0"/>
          </p:cNvCxnSpPr>
          <p:nvPr/>
        </p:nvCxnSpPr>
        <p:spPr>
          <a:xfrm>
            <a:off x="9646920" y="3657600"/>
            <a:ext cx="1691640" cy="155448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895991" y="4297680"/>
            <a:ext cx="930859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95991" y="4297680"/>
            <a:ext cx="93085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full_stop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JOB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Underneath everything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Every verb call: pending → running → complete, with failed_retry (2 strikes, flat across every verb) and escalated as the only other ways out.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failed_retry has a second, unrelated trigger: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the orchestrator restarting a job that was mid-flight when it crashed. Costs nothing against the strike count — the job wasn't wrong, the process just didn't finish.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EXECUTE_BEAD is the exception.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It runs as its own supervised subprocess with its own retry accounting, not the generic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DIAGRAM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C1E22"/>
                </a:solidFill>
                <a:latin typeface="Georgia"/>
              </a:rPr>
              <a:t>Generic job status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1">
                <a:solidFill>
                  <a:srgbClr val="5F636B"/>
                </a:solidFill>
                <a:latin typeface="Calibri"/>
              </a:rPr>
              <a:t>Underneath every verb above, except EXECUTE_BEAD, which runs its own supervised loop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3291840"/>
            <a:ext cx="18288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291840"/>
            <a:ext cx="18288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running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291840"/>
            <a:ext cx="2011680" cy="685800"/>
          </a:xfrm>
          <a:prstGeom prst="roundRect">
            <a:avLst/>
          </a:prstGeom>
          <a:solidFill>
            <a:srgbClr val="E7EFE1"/>
          </a:solidFill>
          <a:ln w="15875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645920"/>
            <a:ext cx="1828800" cy="640080"/>
          </a:xfrm>
          <a:prstGeom prst="roundRect">
            <a:avLst/>
          </a:prstGeom>
          <a:solidFill>
            <a:srgbClr val="F1EFEA"/>
          </a:solidFill>
          <a:ln w="15875">
            <a:solidFill>
              <a:srgbClr val="B9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failed_retry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120640"/>
            <a:ext cx="2011680" cy="685800"/>
          </a:xfrm>
          <a:prstGeom prst="roundRect">
            <a:avLst/>
          </a:prstGeom>
          <a:solidFill>
            <a:srgbClr val="F2E0DC"/>
          </a:solidFill>
          <a:ln w="15875">
            <a:solidFill>
              <a:srgbClr val="A8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escalated</a:t>
            </a:r>
          </a:p>
        </p:txBody>
      </p:sp>
      <p:cxnSp>
        <p:nvCxnSpPr>
          <p:cNvPr id="15" name="Connector 14"/>
          <p:cNvCxnSpPr>
            <a:stCxn id="10" idx="1"/>
            <a:endCxn id="11" idx="3"/>
          </p:cNvCxnSpPr>
          <p:nvPr/>
        </p:nvCxnSpPr>
        <p:spPr>
          <a:xfrm flipV="1">
            <a:off x="1371600" y="3634740"/>
            <a:ext cx="521208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587192" y="2948940"/>
            <a:ext cx="780897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7192" y="2948940"/>
            <a:ext cx="78089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claimed</a:t>
            </a:r>
          </a:p>
        </p:txBody>
      </p:sp>
      <p:cxnSp>
        <p:nvCxnSpPr>
          <p:cNvPr id="18" name="Connector 17"/>
          <p:cNvCxnSpPr>
            <a:stCxn id="11" idx="1"/>
            <a:endCxn id="12" idx="3"/>
          </p:cNvCxnSpPr>
          <p:nvPr/>
        </p:nvCxnSpPr>
        <p:spPr>
          <a:xfrm flipV="1">
            <a:off x="4754880" y="3634740"/>
            <a:ext cx="539496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95491" y="2948940"/>
            <a:ext cx="930859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5491" y="2948940"/>
            <a:ext cx="93085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validated</a:t>
            </a:r>
          </a:p>
        </p:txBody>
      </p:sp>
      <p:cxnSp>
        <p:nvCxnSpPr>
          <p:cNvPr id="21" name="Connector 20"/>
          <p:cNvCxnSpPr>
            <a:stCxn id="11" idx="0"/>
            <a:endCxn id="13" idx="2"/>
          </p:cNvCxnSpPr>
          <p:nvPr/>
        </p:nvCxnSpPr>
        <p:spPr>
          <a:xfrm flipV="1" flipH="1">
            <a:off x="5669280" y="2286000"/>
            <a:ext cx="0" cy="100584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716476" y="2651760"/>
            <a:ext cx="1905609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6476" y="2651760"/>
            <a:ext cx="190560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fails (≤2) ⇄ reclaimed</a:t>
            </a:r>
          </a:p>
        </p:txBody>
      </p:sp>
      <p:cxnSp>
        <p:nvCxnSpPr>
          <p:cNvPr id="24" name="Connector 23"/>
          <p:cNvCxnSpPr>
            <a:stCxn id="11" idx="2"/>
            <a:endCxn id="14" idx="0"/>
          </p:cNvCxnSpPr>
          <p:nvPr/>
        </p:nvCxnSpPr>
        <p:spPr>
          <a:xfrm>
            <a:off x="5669280" y="3977640"/>
            <a:ext cx="3474720" cy="114300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678778" y="4411980"/>
            <a:ext cx="1455724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8778" y="4411980"/>
            <a:ext cx="145572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strikes exceeded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MECHANICAL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model's account is never sufficient on its own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1C1E22"/>
                </a:solidFill>
                <a:latin typeface="Calibri"/>
              </a:rPr>
              <a:t>declare_success gets checked, not trusted.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exit-criteria command re-runs against the files on disk before a "success" is accepted.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1C1E22"/>
                </a:solidFill>
                <a:latin typeface="Calibri"/>
              </a:rPr>
              <a:t>execute_revised gets a source-side gate.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A violation silently downgrades to execute_as_is rather than committing a broken revision.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1C1E22"/>
                </a:solidFill>
                <a:latin typeface="Calibri"/>
              </a:rPr>
              <a:t>A stuck execution gets classified, not retried harder.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Fixed timing (12m checkpoint, 45m ceiling) judges real progress vs. no progress — timeout means "too big," never "give it more time." (An earlier version tried more time. Retired.)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1C1E22"/>
                </a:solidFill>
                <a:latin typeface="Calibri"/>
              </a:rPr>
              <a:t>A parallel watchdog can kill a running execution.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MONITOR_EXECUTION polls a trace file and can SIGTERM/SIGKILL — a second opinion with no job row of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11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3D6D7E"/>
                </a:solidFill>
                <a:latin typeface="Georgia"/>
              </a:rPr>
              <a:t>12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to escalate or full-stop — every one routed to a human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From a decomposition disagreement that never converges, to five rejected manifests, to two consecutive stalls or timeouts on the same bead. Recovery is requeue or rewind — never a hand-edited database or a test patched to force it green.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12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ONE LEVEL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Verification the model runs itself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The gates above check a model's output after the fact. Some verbs also get a way to check their own reasoning while they're still forming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run_go_snippet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— CRITIQUE, JUDGE, ADJUDICATE, and WRITE can all run a real snippet of Go and read back the actual output, mid-turn.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A real call, from the burn-in: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ADJUDICATE, deciding whether a done-indicator renders as the literal word "true" or a CSS class, ran the actual server response through strings.Contains — settling a contradiction no amount of reasoning about the doc's prose could settle on its own.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Less mentally tracing code. More propose-a-check, read-back-what-happened.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KEEPING THE BLAST RADIUS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Narrow in, narrow 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In: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WRITE and CRITIQUE don't see the whole design doc — just a bead-scoped excerpt, capped at a fixed size. COMPRESS_ANALYSIS exists purely to shrink an execution's history before ADJUDICATE ever sees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Out: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an EXECUTE_BEAD attempt runs inside its own per-attempt temp directory. When it ends, only the files the bead's spec actually declares get copied back — everything else the model touched is discarded with the temp dir.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frontier model can afford to have everything in view and sort out what matters itself. This fleet can't be trusted to do that sorting — so the framework does it, upstream,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GENERIC PROMPTS, LANGUAGE-SPECIFIC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Not all of this is Go plumbing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Every verb's system prompt splits into two pieces that never mix: a generic prompt (role framing, structural rules, output schema) with nothing language-specific in it, and a separate, swappable file carrying the actual language mechanics.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language column on every project already exists to select which file loads. The injection machinery works today — no second language has been written yet.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The generic half is meant to survive untouched if that ever changes. The language-specific half is exactly, and only, the part that would need rewriting.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CASTING THE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Independence, enforced in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Five mechanical constraints on the model-assignment table: DECOMPOSE and RECONCILE stay the same model (continuity); AUDIT ≠ DECOMPOSE; EXECUTE ≠ ANALYZE; CERTIFY ≠ SURVEY; and — enforced most directly — WRITE ≠ CRITIQUE.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WRITE and EXECUTE deliberately share a model — accepted because CRITIQUE and JUDGE remain independent of both, so the review layer between them is still a genuine second opinion.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CASTING THE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C1E22"/>
                </a:solidFill>
                <a:latin typeface="Georgia"/>
              </a:rPr>
              <a:t>The standing cast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3900"/>
                <a:gridCol w="6347460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onsolas"/>
                        </a:rPr>
                        <a:t>Verb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onsolas"/>
                        </a:rPr>
                        <a:t>Model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C1E22"/>
                          </a:solidFill>
                          <a:latin typeface="Calibri"/>
                        </a:rPr>
                        <a:t>REFINE_TESTS_WRITE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C1E22"/>
                          </a:solidFill>
                          <a:latin typeface="Calibri"/>
                        </a:rPr>
                        <a:t>muse-glimmer:30b-q8_0-dflash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C1E22"/>
                          </a:solidFill>
                          <a:latin typeface="Calibri"/>
                        </a:rPr>
                        <a:t>REFINE_TESTS_CRITIQUE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C1E22"/>
                          </a:solidFill>
                          <a:latin typeface="Calibri"/>
                        </a:rPr>
                        <a:t>qwen3:32b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C1E22"/>
                          </a:solidFill>
                          <a:latin typeface="Calibri"/>
                        </a:rPr>
                        <a:t>REFINE_TESTS_JUDGE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C1E22"/>
                          </a:solidFill>
                          <a:latin typeface="Calibri"/>
                        </a:rPr>
                        <a:t>qwen3.6:35b-a3b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C1E22"/>
                          </a:solidFill>
                          <a:latin typeface="Calibri"/>
                        </a:rPr>
                        <a:t>EXECUTE_BEAD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C1E22"/>
                          </a:solidFill>
                          <a:latin typeface="Calibri"/>
                        </a:rPr>
                        <a:t>muse-glimmer:30b-q8_0-dflash  (same as WRITE)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C1E22"/>
                          </a:solidFill>
                          <a:latin typeface="Calibri"/>
                        </a:rPr>
                        <a:t>ADJUDICATE_NEXT_EXECUTION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C1E22"/>
                          </a:solidFill>
                          <a:latin typeface="Calibri"/>
                        </a:rPr>
                        <a:t>qwen3.6:35b-a3b  (same as JUDGE)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17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CASTING THE FLEET —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JUDGE and ADJUDICATE are the same model, and that pairing isn't covered by any of the five mechanical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If you're ever tempted to lean on ADJUDICATE as an independent check on a JUDGE call that seems wrong — right now it isn't independent at all. Same weights, second look at a related question. Surfaced by the burn-in, not designed in. Currently #2 on the fix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18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BAKEOFF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qualify-model: evidence, not vibes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Takes a captured historical dispatch — a full DB + folder snapshot at the exact moment a real verb call happened — patches in a candidate model, and replays the verb's real code path (stopping short of Commit, so nothing leaks back to a live project).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Fidelity assertion: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does the replay reconstruct a byte-identical prompt to what was actually captured? If the verb's prompt-building has drifted, the comparison is flagged unsound rather than silently scored.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Per-verb rubrics: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WRITE graded against hand-planted mutants; CRITIQUE on catch-rate and false positives; JUDGE/ADJUDICATE on agreement with the confirmed decision, plus dead_turn_rate — turns that return no content and no tool call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19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BAKEOFF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C1E22"/>
                </a:solidFill>
                <a:latin typeface="Georgia"/>
              </a:rPr>
              <a:t>Not what you'd predict from reputation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81610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Verb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Winner 6/6 correct, 0 dead turns. Incumbent 3/6 (2 beads: 30-min ceiling, nothing written).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Incumbent held up: ~2/3 real defects, 0 false positives. Fast model: 0/6, 30% dead-turn rate.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Same JSON-grammar constraint helps one model, breaks another, blocks a third outright.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C1E22"/>
                          </a:solidFill>
                          <a:latin typeface="Calibri"/>
                        </a:rPr>
                        <a:t>ADJUDICATE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C1E22"/>
                          </a:solidFill>
                          <a:latin typeface="Calibri"/>
                        </a:rPr>
                        <a:t>Fast model matched incumbent on every case, 4–5× faster — but corpus only had easy cases.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20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THROUGHLINE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A fast small model does very well when handed clean evidence and asked to make a call — and badly when asked to go looking for problems with no evidence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This is why CRITIQUE (open-ended detection) and ADJUDICATE (evidence-based judgment) are cast so differently even though both are, on paper, "review a thing and decide." It's also the direct ancestor of the framework's current top priority.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21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ONE MORE BAKEOFF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0" b="1" i="0">
                <a:solidFill>
                  <a:srgbClr val="A83A2A"/>
                </a:solidFill>
                <a:latin typeface="Georgia"/>
              </a:rPr>
              <a:t>0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 i="0">
                <a:solidFill>
                  <a:srgbClr val="1C1E22"/>
                </a:solidFill>
                <a:latin typeface="Calibri"/>
              </a:rPr>
              <a:t>runs cleared the bead — and more turns made the best coder worse, not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5F636B"/>
                </a:solidFill>
                <a:latin typeface="Calibri"/>
              </a:rPr>
              <a:t>A dedicated coder model plus a much bigger turn budget was the obvious fix for one stalling bead. Neither helped. This bakeoff never ended in a model swap.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22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MORE ROOM TO WORK, MORE ROOM TO THRASH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result, in full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best-performing coder candidate's standard-budget runs reached checkpoint 32 and 26 out of 35. Given more than double the turns, the same model's results fell to 19, 19, and 0.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One generous-budget run spent well over a hundred turns iterating and ended up breaking a type that had been working fine at turn one.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The eventual fix wasn't a model swap.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It was splitting the oversized bead in the design doc — the origin story for the bead-sizing discipline in Part 3.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Giving a struggling model more room to work assumes the problem is room. Sometimes the problem is scope.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23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FOUND TWICE, INDEPENDENTLY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The mechanical gate on slide 11 — the one that used to double a stuck execution's time budget on every repeated timeout — doesn't exist in that form anymore.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Both mechanisms were built on the same assumption: a model running out of time just needs more of it. Both times, in two unrelated investigations, the data said the opposite. A framework this willing to retire its own mechanisms on the strength of a bakeoff result is arguably a better signal than either bakeoff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24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 STRUCTURAL BUG, NOT A BEHAVIORAL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0 of 139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A core reviewing model had, across the framework's entire history, never once successfully emitted a tool call while a strict JSON-format grammar was active.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It looked like a prompting problem for a long time — verbose reasoning, repeated retries, escalations, blamed on the model "not being disciplined enough."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It wasn't. The model thinks in a separate stream before answering; the JSON grammar constraint was structurally incompatible with the tag syntax that stream needs to hand off into a tool call. No prompting fix was ever going to touch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fix: drop the format constraint on that verb's tool-invoking turn. Small change — found only by treating a year of "reasoning spirals" as a hypothesis to test against raw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25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 MODEL'S WORD FOR IT ISN'T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nemotron-cascade-2:30b-a3b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Reported native tool-calling support through Ollama's own introspection endpoint. A quick test probe came back clean.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On a real task, with a realistically-sized payload, it failed anyway — Ollama's own parser for that model choked with a hard XML error, before any of the framework's own code ever ran.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The lesson: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model's advertised capability is not evidence it can do the job. The only real test is a live exchange with a realistic payload — the same "verify, don't take its word for it" instinct as the mechanical gates, aimed one level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26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AN ADVANCED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Cascade iterations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completed project can be cloned with a revised design doc — the clone inherits the original's beads and execution history, skips survey/decompose, and goes straight to a fresh audit against the new doc.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Changed bead specs are diffed and reset; unchanged beads — including ones already succeeded — are left completely untouched.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small mechanism, but the concrete answer to a bigger question: how to avoid redoing work a model already got right, once "the spec changed" is a normal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27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WHAT THIS BUYS, PUT PLAINLY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Three non-negotiable properties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Decisions get checked against reality instead of taken on trust.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Work is broken into pieces small enough to verify independently, rather than trusted as one long session.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900" b="0" i="0">
                <a:solidFill>
                  <a:srgbClr val="1C1E22"/>
                </a:solidFill>
                <a:latin typeface="Calibri"/>
              </a:rPr>
              <a:t>The pipeline's own behavior is something you can replay, measure, and improve with evidence — not folklore about which model "feels"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2/6 · VERBS &amp; THE FLEET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28 / 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END OF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None of it makes the models smarter.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6926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C9CDD2"/>
                </a:solidFill>
                <a:latin typeface="Calibri"/>
              </a:rPr>
              <a:t>It makes their mistakes cheap to catch, and their good decisions easy to tell apart from lucky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i="0">
                <a:solidFill>
                  <a:srgbClr val="9AC7D3"/>
                </a:solidFill>
                <a:latin typeface="Consolas"/>
              </a:rPr>
              <a:t>NEXT —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Format, Think, Turn — the wire-level mechanics of talking to this fleet over Ollama, and why almost none of it looks like calling Claude's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PART 2/6 · VERBS &amp; THE 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