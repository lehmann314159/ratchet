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148840"/>
            <a:ext cx="10881360" cy="320040"/>
          </a:xfrm>
          <a:prstGeom prst="rect">
            <a:avLst/>
          </a:prstGeom>
          <a:noFill/>
        </p:spPr>
        <p:txBody>
          <a:bodyPr wrap="square" anchor="t" lIns="0" rIns="0" tIns="0" bIns="0">
            <a:noAutofit/>
          </a:bodyPr>
          <a:lstStyle/>
          <a:p>
            <a:r>
              <a:rPr sz="1300" b="1" i="0">
                <a:solidFill>
                  <a:srgbClr val="9AC7D3"/>
                </a:solidFill>
                <a:latin typeface="Consolas"/>
              </a:rPr>
              <a:t>RATCHET · PART 5 OF 6</a:t>
            </a:r>
          </a:p>
        </p:txBody>
      </p:sp>
      <p:sp>
        <p:nvSpPr>
          <p:cNvPr id="4" name="TextBox 3"/>
          <p:cNvSpPr txBox="1"/>
          <p:nvPr/>
        </p:nvSpPr>
        <p:spPr>
          <a:xfrm>
            <a:off x="822960" y="2606040"/>
            <a:ext cx="10515600" cy="1051560"/>
          </a:xfrm>
          <a:prstGeom prst="rect">
            <a:avLst/>
          </a:prstGeom>
          <a:noFill/>
        </p:spPr>
        <p:txBody>
          <a:bodyPr wrap="square" anchor="t" lIns="0" rIns="0" tIns="0" bIns="0">
            <a:noAutofit/>
          </a:bodyPr>
          <a:lstStyle/>
          <a:p>
            <a:pPr>
              <a:lnSpc>
                <a:spcPct val="100000"/>
              </a:lnSpc>
            </a:pPr>
            <a:r>
              <a:rPr sz="4400" b="1" i="0">
                <a:solidFill>
                  <a:srgbClr val="FFFFFF"/>
                </a:solidFill>
                <a:latin typeface="Georgia"/>
              </a:rPr>
              <a:t>Draft, Check, Sign Off</a:t>
            </a:r>
          </a:p>
        </p:txBody>
      </p:sp>
      <p:sp>
        <p:nvSpPr>
          <p:cNvPr id="5" name="TextBox 4"/>
          <p:cNvSpPr txBox="1"/>
          <p:nvPr/>
        </p:nvSpPr>
        <p:spPr>
          <a:xfrm>
            <a:off x="868680" y="3794760"/>
            <a:ext cx="9875520" cy="640080"/>
          </a:xfrm>
          <a:prstGeom prst="rect">
            <a:avLst/>
          </a:prstGeom>
          <a:noFill/>
        </p:spPr>
        <p:txBody>
          <a:bodyPr wrap="square" anchor="t" lIns="0" rIns="0" tIns="0" bIns="0">
            <a:noAutofit/>
          </a:bodyPr>
          <a:lstStyle/>
          <a:p>
            <a:r>
              <a:rPr sz="2200" b="0" i="1">
                <a:solidFill>
                  <a:srgbClr val="C9CDD2"/>
                </a:solidFill>
                <a:latin typeface="Calibri"/>
              </a:rPr>
              <a:t>Where a spec precise enough for this actually comes from</a:t>
            </a:r>
          </a:p>
        </p:txBody>
      </p:sp>
      <p:sp>
        <p:nvSpPr>
          <p:cNvPr id="6" name="TextBox 5"/>
          <p:cNvSpPr txBox="1"/>
          <p:nvPr/>
        </p:nvSpPr>
        <p:spPr>
          <a:xfrm>
            <a:off x="868680" y="4709160"/>
            <a:ext cx="8778240" cy="1280160"/>
          </a:xfrm>
          <a:prstGeom prst="rect">
            <a:avLst/>
          </a:prstGeom>
          <a:noFill/>
        </p:spPr>
        <p:txBody>
          <a:bodyPr wrap="square" anchor="t" lIns="0" rIns="0" tIns="0" bIns="0">
            <a:noAutofit/>
          </a:bodyPr>
          <a:lstStyle/>
          <a:p>
            <a:pPr>
              <a:lnSpc>
                <a:spcPct val="130000"/>
              </a:lnSpc>
            </a:pPr>
            <a:r>
              <a:rPr sz="1500" b="0" i="0">
                <a:solidFill>
                  <a:srgbClr val="9A9FA6"/>
                </a:solidFill>
                <a:latin typeface="Calibri"/>
              </a:rPr>
              <a:t>Part 5 of 6. The last piece was about what a good design doc looks like once it's finished. This one is about the workflow that gets it there — and the independent check that decides whether it's allowed to start a project.</a:t>
            </a:r>
          </a:p>
        </p:txBody>
      </p:sp>
      <p:sp>
        <p:nvSpPr>
          <p:cNvPr id="7" name="Oval 6"/>
          <p:cNvSpPr/>
          <p:nvPr/>
        </p:nvSpPr>
        <p:spPr>
          <a:xfrm>
            <a:off x="868680" y="6263640"/>
            <a:ext cx="146304" cy="146304"/>
          </a:xfrm>
          <a:prstGeom prst="ellipse">
            <a:avLst/>
          </a:prstGeom>
          <a:solidFill>
            <a:srgbClr val="3A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88719" y="6263640"/>
            <a:ext cx="146304" cy="146304"/>
          </a:xfrm>
          <a:prstGeom prst="ellipse">
            <a:avLst/>
          </a:prstGeom>
          <a:solidFill>
            <a:srgbClr val="3A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08760" y="6263640"/>
            <a:ext cx="146304" cy="146304"/>
          </a:xfrm>
          <a:prstGeom prst="ellipse">
            <a:avLst/>
          </a:prstGeom>
          <a:solidFill>
            <a:srgbClr val="3A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828799" y="6263640"/>
            <a:ext cx="146304" cy="146304"/>
          </a:xfrm>
          <a:prstGeom prst="ellipse">
            <a:avLst/>
          </a:prstGeom>
          <a:solidFill>
            <a:srgbClr val="3A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48839" y="6263640"/>
            <a:ext cx="146304" cy="146304"/>
          </a:xfrm>
          <a:prstGeom prst="ellipse">
            <a:avLst/>
          </a:prstGeom>
          <a:solidFill>
            <a:srgbClr val="9AC7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468880" y="6263640"/>
            <a:ext cx="146304" cy="146304"/>
          </a:xfrm>
          <a:prstGeom prst="ellipse">
            <a:avLst/>
          </a:prstGeom>
          <a:solidFill>
            <a:srgbClr val="3A3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THE GAP THIS CLOSES</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One conversation was the entire quality bar</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10881360" cy="4297680"/>
          </a:xfrm>
          <a:prstGeom prst="rect">
            <a:avLst/>
          </a:prstGeom>
          <a:noFill/>
        </p:spPr>
        <p:txBody>
          <a:bodyPr wrap="square" anchor="t" lIns="0" rIns="0" tIns="0" bIns="0">
            <a:noAutofit/>
          </a:bodyPr>
          <a:lstStyle/>
          <a:p>
            <a:pPr>
              <a:lnSpc>
                <a:spcPct val="112000"/>
              </a:lnSpc>
              <a:spcAft>
                <a:spcPts val="1000"/>
              </a:spcAft>
            </a:pPr>
            <a:r>
              <a:rPr sz="1600" b="1" i="0">
                <a:solidFill>
                  <a:srgbClr val="3D6D7E"/>
                </a:solidFill>
                <a:latin typeface="Calibri"/>
              </a:rPr>
              <a:t>—  </a:t>
            </a:r>
            <a:r>
              <a:rPr sz="1600" b="1" i="0">
                <a:solidFill>
                  <a:srgbClr val="1C1E22"/>
                </a:solidFill>
                <a:latin typeface="Calibri"/>
              </a:rPr>
              <a:t>A tasklist bead </a:t>
            </a:r>
            <a:r>
              <a:rPr sz="1600" b="0" i="0">
                <a:solidFill>
                  <a:srgbClr val="1C1E22"/>
                </a:solidFill>
                <a:latin typeface="Calibri"/>
              </a:rPr>
              <a:t>churned four-plus REFINE_TESTS cycles over shallow- vs. deep-copy semantics — in the same authoring session whose own commit message described applying worked-example discipline elsewhere.</a:t>
            </a:r>
          </a:p>
          <a:p>
            <a:pPr>
              <a:lnSpc>
                <a:spcPct val="112000"/>
              </a:lnSpc>
              <a:spcAft>
                <a:spcPts val="1000"/>
              </a:spcAft>
            </a:pPr>
            <a:r>
              <a:rPr sz="1600" b="1" i="0">
                <a:solidFill>
                  <a:srgbClr val="3D6D7E"/>
                </a:solidFill>
                <a:latin typeface="Calibri"/>
              </a:rPr>
              <a:t>—  </a:t>
            </a:r>
            <a:r>
              <a:rPr sz="1600" b="1" i="0">
                <a:solidFill>
                  <a:srgbClr val="1C1E22"/>
                </a:solidFill>
                <a:latin typeface="Calibri"/>
              </a:rPr>
              <a:t>A connect-four bead </a:t>
            </a:r>
            <a:r>
              <a:rPr sz="1600" b="0" i="0">
                <a:solidFill>
                  <a:srgbClr val="1C1E22"/>
                </a:solidFill>
                <a:latin typeface="Calibri"/>
              </a:rPr>
              <a:t>lost a full bead's worth of cycles because a worked scenario was added to the doc without its matching Decomposition Notes pin — correct content, missing plumbing.</a:t>
            </a:r>
          </a:p>
          <a:p>
            <a:pPr>
              <a:lnSpc>
                <a:spcPct val="112000"/>
              </a:lnSpc>
              <a:spcAft>
                <a:spcPts val="1000"/>
              </a:spcAft>
            </a:pPr>
            <a:r>
              <a:rPr sz="1600" b="1" i="0">
                <a:solidFill>
                  <a:srgbClr val="3D6D7E"/>
                </a:solidFill>
                <a:latin typeface="Calibri"/>
              </a:rPr>
              <a:t>—  </a:t>
            </a:r>
            <a:r>
              <a:rPr sz="1600" b="1" i="0">
                <a:solidFill>
                  <a:srgbClr val="1C1E22"/>
                </a:solidFill>
                <a:latin typeface="Calibri"/>
              </a:rPr>
              <a:t>A web-app doc </a:t>
            </a:r>
            <a:r>
              <a:rPr sz="1600" b="0" i="0">
                <a:solidFill>
                  <a:srgbClr val="1C1E22"/>
                </a:solidFill>
                <a:latin typeface="Calibri"/>
              </a:rPr>
              <a:t>had pins that were real and correct, but in a format later tooling didn't expect — because nothing had checked the convention against a doc written before that convention existed.</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02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881360" cy="320040"/>
          </a:xfrm>
          <a:prstGeom prst="rect">
            <a:avLst/>
          </a:prstGeom>
          <a:noFill/>
        </p:spPr>
        <p:txBody>
          <a:bodyPr wrap="square" anchor="t" lIns="0" rIns="0" tIns="0" bIns="0">
            <a:noAutofit/>
          </a:bodyPr>
          <a:lstStyle/>
          <a:p>
            <a:r>
              <a:rPr sz="1300" b="1" i="0">
                <a:solidFill>
                  <a:srgbClr val="3D6D7E"/>
                </a:solidFill>
                <a:latin typeface="Consolas"/>
              </a:rPr>
              <a:t>TWO SKILLS, NOT ONE</a:t>
            </a:r>
          </a:p>
        </p:txBody>
      </p:sp>
      <p:sp>
        <p:nvSpPr>
          <p:cNvPr id="4" name="Rectangle 3"/>
          <p:cNvSpPr/>
          <p:nvPr/>
        </p:nvSpPr>
        <p:spPr>
          <a:xfrm>
            <a:off x="640080" y="1508760"/>
            <a:ext cx="73152" cy="3291840"/>
          </a:xfrm>
          <a:prstGeom prst="rect">
            <a:avLst/>
          </a:prstGeom>
          <a:solidFill>
            <a:srgbClr val="3D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9966960" cy="3383280"/>
          </a:xfrm>
          <a:prstGeom prst="rect">
            <a:avLst/>
          </a:prstGeom>
          <a:noFill/>
        </p:spPr>
        <p:txBody>
          <a:bodyPr wrap="square" anchor="ctr" lIns="0" rIns="0" tIns="0" bIns="0">
            <a:noAutofit/>
          </a:bodyPr>
          <a:lstStyle/>
          <a:p>
            <a:pPr>
              <a:lnSpc>
                <a:spcPct val="130000"/>
              </a:lnSpc>
            </a:pPr>
            <a:r>
              <a:rPr sz="2500" b="0" i="1">
                <a:solidFill>
                  <a:srgbClr val="1C1E22"/>
                </a:solidFill>
                <a:latin typeface="Georgia"/>
              </a:rPr>
              <a:t>Independence is worth something only if it's real — and a check that only ever sees its own draft never means anything.</a:t>
            </a:r>
          </a:p>
        </p:txBody>
      </p:sp>
      <p:sp>
        <p:nvSpPr>
          <p:cNvPr id="6" name="TextBox 5"/>
          <p:cNvSpPr txBox="1"/>
          <p:nvPr/>
        </p:nvSpPr>
        <p:spPr>
          <a:xfrm>
            <a:off x="960120" y="5074920"/>
            <a:ext cx="9966960" cy="1005840"/>
          </a:xfrm>
          <a:prstGeom prst="rect">
            <a:avLst/>
          </a:prstGeom>
          <a:noFill/>
        </p:spPr>
        <p:txBody>
          <a:bodyPr wrap="square" anchor="t" lIns="0" rIns="0" tIns="0" bIns="0">
            <a:noAutofit/>
          </a:bodyPr>
          <a:lstStyle/>
          <a:p>
            <a:pPr>
              <a:lnSpc>
                <a:spcPct val="125000"/>
              </a:lnSpc>
            </a:pPr>
            <a:r>
              <a:rPr sz="1500" b="0" i="0">
                <a:solidFill>
                  <a:srgbClr val="5F636B"/>
                </a:solidFill>
                <a:latin typeface="Calibri"/>
              </a:rPr>
              <a:t>draft-design-doc and check-design-doc stay separate on purpose. Drafting is authoring work Claude already does well, inline, with full context. Checking only means something when it's done by something that never saw the draft get written — no benefit of the doubt for a phrase that reads clearly to the person who chose it.</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03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DRAFTING, SECTION BY SECTION</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A fixed seven-section template</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10881360" cy="4297680"/>
          </a:xfrm>
          <a:prstGeom prst="rect">
            <a:avLst/>
          </a:prstGeom>
          <a:noFill/>
        </p:spPr>
        <p:txBody>
          <a:bodyPr wrap="square" anchor="t" lIns="0" rIns="0" tIns="0" bIns="0">
            <a:noAutofit/>
          </a:bodyPr>
          <a:lstStyle/>
          <a:p>
            <a:pPr>
              <a:lnSpc>
                <a:spcPct val="112000"/>
              </a:lnSpc>
              <a:spcAft>
                <a:spcPts val="1000"/>
              </a:spcAft>
            </a:pPr>
            <a:r>
              <a:rPr sz="1600" b="1" i="0">
                <a:solidFill>
                  <a:srgbClr val="3D6D7E"/>
                </a:solidFill>
                <a:latin typeface="Calibri"/>
              </a:rPr>
              <a:t>—  </a:t>
            </a:r>
            <a:r>
              <a:rPr sz="1600" b="0" i="0">
                <a:solidFill>
                  <a:srgbClr val="1C1E22"/>
                </a:solidFill>
                <a:latin typeface="Calibri"/>
              </a:rPr>
              <a:t>Overview · Architecture · Data Types and Function Signatures · Behavioral Specification · Domain-Specific Test Scenarios · Cross-Bead Contracts · Decomposition Notes.</a:t>
            </a:r>
          </a:p>
          <a:p>
            <a:pPr>
              <a:lnSpc>
                <a:spcPct val="112000"/>
              </a:lnSpc>
              <a:spcAft>
                <a:spcPts val="1000"/>
              </a:spcAft>
            </a:pPr>
            <a:r>
              <a:rPr sz="1600" b="1" i="0">
                <a:solidFill>
                  <a:srgbClr val="3D6D7E"/>
                </a:solidFill>
                <a:latin typeface="Calibri"/>
              </a:rPr>
              <a:t>—  </a:t>
            </a:r>
            <a:r>
              <a:rPr sz="1600" b="0" i="0">
                <a:solidFill>
                  <a:srgbClr val="1C1E22"/>
                </a:solidFill>
                <a:latin typeface="Calibri"/>
              </a:rPr>
              <a:t>Three are conditional and get omitted entirely, never left as an empty heading — Architecture for a small project, Test Scenarios when nothing has geometry a raw index could misrepresent, Cross-Bead Contracts when no bead feeds another.</a:t>
            </a:r>
          </a:p>
          <a:p>
            <a:pPr>
              <a:lnSpc>
                <a:spcPct val="112000"/>
              </a:lnSpc>
              <a:spcAft>
                <a:spcPts val="1000"/>
              </a:spcAft>
            </a:pPr>
            <a:r>
              <a:rPr sz="1600" b="1" i="0">
                <a:solidFill>
                  <a:srgbClr val="3D6D7E"/>
                </a:solidFill>
                <a:latin typeface="Calibri"/>
              </a:rPr>
              <a:t>—  </a:t>
            </a:r>
            <a:r>
              <a:rPr sz="1600" b="0" i="0">
                <a:solidFill>
                  <a:srgbClr val="1C1E22"/>
                </a:solidFill>
                <a:latin typeface="Calibri"/>
              </a:rPr>
              <a:t>Not a style choice: checkdesigndoc parses by heading, and SURVEY/DECOMPOSE read specific sections by name downstream. A doc that drifts from the template silently stops being machine-readable exactly where it matters.</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04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THREE HARD RULES</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Requirements, not judgment calls</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10881360" cy="4297680"/>
          </a:xfrm>
          <a:prstGeom prst="rect">
            <a:avLst/>
          </a:prstGeom>
          <a:noFill/>
        </p:spPr>
        <p:txBody>
          <a:bodyPr wrap="square" anchor="t" lIns="0" rIns="0" tIns="0" bIns="0">
            <a:noAutofit/>
          </a:bodyPr>
          <a:lstStyle/>
          <a:p>
            <a:pPr>
              <a:lnSpc>
                <a:spcPct val="112000"/>
              </a:lnSpc>
              <a:spcAft>
                <a:spcPts val="1000"/>
              </a:spcAft>
            </a:pPr>
            <a:r>
              <a:rPr sz="1500" b="1" i="0">
                <a:solidFill>
                  <a:srgbClr val="3D6D7E"/>
                </a:solidFill>
                <a:latin typeface="Calibri"/>
              </a:rPr>
              <a:t>—  </a:t>
            </a:r>
            <a:r>
              <a:rPr sz="1500" b="1" i="0">
                <a:solidFill>
                  <a:srgbClr val="1C1E22"/>
                </a:solidFill>
                <a:latin typeface="Calibri"/>
              </a:rPr>
              <a:t>Every worked example is verified by actually running something, </a:t>
            </a:r>
            <a:r>
              <a:rPr sz="1500" b="0" i="0">
                <a:solidFill>
                  <a:srgbClr val="1C1E22"/>
                </a:solidFill>
                <a:latin typeface="Calibri"/>
              </a:rPr>
              <a:t>in-session, before it enters the doc — with an inline citation of what ran and what it produced. A number that "looks right" from memory doesn't clear this bar.</a:t>
            </a:r>
          </a:p>
          <a:p>
            <a:pPr>
              <a:lnSpc>
                <a:spcPct val="112000"/>
              </a:lnSpc>
              <a:spcAft>
                <a:spcPts val="1000"/>
              </a:spcAft>
            </a:pPr>
            <a:r>
              <a:rPr sz="1500" b="1" i="0">
                <a:solidFill>
                  <a:srgbClr val="3D6D7E"/>
                </a:solidFill>
                <a:latin typeface="Calibri"/>
              </a:rPr>
              <a:t>—  </a:t>
            </a:r>
            <a:r>
              <a:rPr sz="1500" b="1" i="0">
                <a:solidFill>
                  <a:srgbClr val="1C1E22"/>
                </a:solidFill>
                <a:latin typeface="Calibri"/>
              </a:rPr>
              <a:t>A gap becomes an Open Questions entry, </a:t>
            </a:r>
            <a:r>
              <a:rPr sz="1500" b="0" i="0">
                <a:solidFill>
                  <a:srgbClr val="1C1E22"/>
                </a:solidFill>
                <a:latin typeface="Calibri"/>
              </a:rPr>
              <a:t>quoting the underspecified spot and naming the concrete alternatives — never a plausible guess written in unmarked. The section persists whether or not anyone's there to ask.</a:t>
            </a:r>
          </a:p>
          <a:p>
            <a:pPr>
              <a:lnSpc>
                <a:spcPct val="112000"/>
              </a:lnSpc>
              <a:spcAft>
                <a:spcPts val="1000"/>
              </a:spcAft>
            </a:pPr>
            <a:r>
              <a:rPr sz="1500" b="1" i="0">
                <a:solidFill>
                  <a:srgbClr val="3D6D7E"/>
                </a:solidFill>
                <a:latin typeface="Calibri"/>
              </a:rPr>
              <a:t>—  </a:t>
            </a:r>
            <a:r>
              <a:rPr sz="1500" b="1" i="0">
                <a:solidFill>
                  <a:srgbClr val="1C1E22"/>
                </a:solidFill>
                <a:latin typeface="Calibri"/>
              </a:rPr>
              <a:t>Every load-bearing literal gets an explicit pin, </a:t>
            </a:r>
            <a:r>
              <a:rPr sz="1500" b="0" i="0">
                <a:solidFill>
                  <a:srgbClr val="1C1E22"/>
                </a:solidFill>
                <a:latin typeface="Calibri"/>
              </a:rPr>
              <a:t>a bullet naming the exact bead and value, generated as part of drafting rather than trusted to survive later paraphrasing.</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05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THE MECHANICAL SCAN</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The naive version, and why it didn't work</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10881360" cy="4297680"/>
          </a:xfrm>
          <a:prstGeom prst="rect">
            <a:avLst/>
          </a:prstGeom>
          <a:noFill/>
        </p:spPr>
        <p:txBody>
          <a:bodyPr wrap="square" anchor="t" lIns="0" rIns="0" tIns="0" bIns="0">
            <a:noAutofit/>
          </a:bodyPr>
          <a:lstStyle/>
          <a:p>
            <a:pPr>
              <a:lnSpc>
                <a:spcPct val="112000"/>
              </a:lnSpc>
              <a:spcAft>
                <a:spcPts val="1000"/>
              </a:spcAft>
            </a:pPr>
            <a:r>
              <a:rPr sz="1500" b="1" i="0">
                <a:solidFill>
                  <a:srgbClr val="3D6D7E"/>
                </a:solidFill>
                <a:latin typeface="Calibri"/>
              </a:rPr>
              <a:t>—  </a:t>
            </a:r>
            <a:r>
              <a:rPr sz="1500" b="0" i="0">
                <a:solidFill>
                  <a:srgbClr val="1C1E22"/>
                </a:solidFill>
                <a:latin typeface="Calibri"/>
              </a:rPr>
              <a:t>checkdesigndoc parses the doc by section, applies keyword-triggered rules, prints a report — an over-flagging report a human reads, never a pass/fail gate.</a:t>
            </a:r>
          </a:p>
          <a:p>
            <a:pPr>
              <a:lnSpc>
                <a:spcPct val="112000"/>
              </a:lnSpc>
              <a:spcAft>
                <a:spcPts val="1000"/>
              </a:spcAft>
            </a:pPr>
            <a:r>
              <a:rPr sz="1500" b="1" i="0">
                <a:solidFill>
                  <a:srgbClr val="3D6D7E"/>
                </a:solidFill>
                <a:latin typeface="Calibri"/>
              </a:rPr>
              <a:t>—  </a:t>
            </a:r>
            <a:r>
              <a:rPr sz="1500" b="0" i="0">
                <a:solidFill>
                  <a:srgbClr val="1C1E22"/>
                </a:solidFill>
                <a:latin typeface="Calibri"/>
              </a:rPr>
              <a:t>The first arithmetic check — one of eighteen catalogued ambiguity classes — flagged any "identifier operator identifier" pattern, and lit up on every single Go pointer type, because g *Game reads exactly like arithmetic to a regex that doesn't know Go syntax.</a:t>
            </a:r>
          </a:p>
          <a:p>
            <a:pPr>
              <a:lnSpc>
                <a:spcPct val="112000"/>
              </a:lnSpc>
              <a:spcAft>
                <a:spcPts val="1000"/>
              </a:spcAft>
            </a:pPr>
            <a:r>
              <a:rPr sz="1500" b="1" i="0">
                <a:solidFill>
                  <a:srgbClr val="3D6D7E"/>
                </a:solidFill>
                <a:latin typeface="Calibri"/>
              </a:rPr>
              <a:t>—  </a:t>
            </a:r>
            <a:r>
              <a:rPr sz="1500" b="0" i="0">
                <a:solidFill>
                  <a:srgbClr val="1C1E22"/>
                </a:solidFill>
                <a:latin typeface="Calibri"/>
              </a:rPr>
              <a:t>Rebuilt around actual arithmetic language instead — "sum of," "the formula," "FNV," "hash of" — cleared by a computed number nearby. Geometry went the other way: "above"/"below" dropped entirely once they turned out to almost always be ordinary cross-references, not geometric claims.</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06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FIVE OF EIGHTEEN GET A KEYWORD SCAN</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000" b="1" i="0">
                <a:solidFill>
                  <a:srgbClr val="1C1E22"/>
                </a:solidFill>
                <a:latin typeface="Georgia"/>
              </a:rPr>
              <a:t>The rest need judgment — no shortcut around that</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640080" y="2057400"/>
          <a:ext cx="10881358" cy="2743200"/>
        </p:xfrm>
        <a:graphic>
          <a:graphicData uri="http://schemas.openxmlformats.org/drawingml/2006/table">
            <a:tbl>
              <a:tblPr firstRow="1" bandRow="1">
                <a:tableStyleId>{5C22544A-7EE6-4342-B048-85BDC9FD1C3A}</a:tableStyleId>
              </a:tblPr>
              <a:tblGrid>
                <a:gridCol w="1940087"/>
                <a:gridCol w="4808042"/>
                <a:gridCol w="4133229"/>
              </a:tblGrid>
              <a:tr h="457200">
                <a:tc>
                  <a:txBody>
                    <a:bodyPr/>
                    <a:lstStyle/>
                    <a:p>
                      <a:r>
                        <a:rPr sz="1300" b="1" i="0">
                          <a:solidFill>
                            <a:srgbClr val="FFFFFF"/>
                          </a:solidFill>
                          <a:latin typeface="Consolas"/>
                        </a:rPr>
                        <a:t>Class</a:t>
                      </a:r>
                    </a:p>
                  </a:txBody>
                  <a:tcPr marL="73152" marT="36576" marB="36576" anchor="ctr">
                    <a:solidFill>
                      <a:srgbClr val="1C1E22"/>
                    </a:solidFill>
                  </a:tcPr>
                </a:tc>
                <a:tc>
                  <a:txBody>
                    <a:bodyPr/>
                    <a:lstStyle/>
                    <a:p>
                      <a:r>
                        <a:rPr sz="1300" b="1" i="0">
                          <a:solidFill>
                            <a:srgbClr val="FFFFFF"/>
                          </a:solidFill>
                          <a:latin typeface="Consolas"/>
                        </a:rPr>
                        <a:t>What it catches</a:t>
                      </a:r>
                    </a:p>
                  </a:txBody>
                  <a:tcPr marL="73152" marT="36576" marB="36576" anchor="ctr">
                    <a:solidFill>
                      <a:srgbClr val="1C1E22"/>
                    </a:solidFill>
                  </a:tcPr>
                </a:tc>
                <a:tc>
                  <a:txBody>
                    <a:bodyPr/>
                    <a:lstStyle/>
                    <a:p>
                      <a:r>
                        <a:rPr sz="1300" b="1" i="0">
                          <a:solidFill>
                            <a:srgbClr val="FFFFFF"/>
                          </a:solidFill>
                          <a:latin typeface="Consolas"/>
                        </a:rPr>
                        <a:t>What clears it</a:t>
                      </a:r>
                    </a:p>
                  </a:txBody>
                  <a:tcPr marL="73152" marT="36576" marB="36576" anchor="ctr">
                    <a:solidFill>
                      <a:srgbClr val="1C1E22"/>
                    </a:solidFill>
                  </a:tcPr>
                </a:tc>
              </a:tr>
              <a:tr h="457200">
                <a:tc>
                  <a:txBody>
                    <a:bodyPr wrap="square"/>
                    <a:lstStyle/>
                    <a:p>
                      <a:r>
                        <a:rPr sz="1300" b="1" i="0">
                          <a:solidFill>
                            <a:srgbClr val="1C1E22"/>
                          </a:solidFill>
                          <a:latin typeface="Calibri"/>
                        </a:rPr>
                        <a:t>1 — Geometry</a:t>
                      </a:r>
                    </a:p>
                  </a:txBody>
                  <a:tcPr marL="73152" marT="27432" marB="27432" anchor="ctr">
                    <a:solidFill>
                      <a:srgbClr val="FFFFFF"/>
                    </a:solidFill>
                  </a:tcPr>
                </a:tc>
                <a:tc>
                  <a:txBody>
                    <a:bodyPr wrap="square"/>
                    <a:lstStyle/>
                    <a:p>
                      <a:r>
                        <a:rPr sz="1300" b="0" i="0">
                          <a:solidFill>
                            <a:srgbClr val="1C1E22"/>
                          </a:solidFill>
                          <a:latin typeface="Calibri"/>
                        </a:rPr>
                        <a:t>Relative-direction language with no coordinate math: "diagonally," "clockwise," "toward/forward/backward," "row above/below"</a:t>
                      </a:r>
                    </a:p>
                  </a:txBody>
                  <a:tcPr marL="73152" marT="27432" marB="27432" anchor="ctr">
                    <a:solidFill>
                      <a:srgbClr val="FFFFFF"/>
                    </a:solidFill>
                  </a:tcPr>
                </a:tc>
                <a:tc>
                  <a:txBody>
                    <a:bodyPr wrap="square"/>
                    <a:lstStyle/>
                    <a:p>
                      <a:r>
                        <a:rPr sz="1300" b="0" i="0">
                          <a:solidFill>
                            <a:srgbClr val="1C1E22"/>
                          </a:solidFill>
                          <a:latin typeface="Calibri"/>
                        </a:rPr>
                        <a:t>A Δrow/Δcol, a (±n,±n) pair, or an algebraic delta (a1→b2) nearby</a:t>
                      </a:r>
                    </a:p>
                  </a:txBody>
                  <a:tcPr marL="73152" marT="27432" marB="27432" anchor="ctr">
                    <a:solidFill>
                      <a:srgbClr val="FFFFFF"/>
                    </a:solidFill>
                  </a:tcPr>
                </a:tc>
              </a:tr>
              <a:tr h="457200">
                <a:tc>
                  <a:txBody>
                    <a:bodyPr wrap="square"/>
                    <a:lstStyle/>
                    <a:p>
                      <a:r>
                        <a:rPr sz="1300" b="1" i="0">
                          <a:solidFill>
                            <a:srgbClr val="1C1E22"/>
                          </a:solidFill>
                          <a:latin typeface="Calibri"/>
                        </a:rPr>
                        <a:t>2 — Arithmetic</a:t>
                      </a:r>
                    </a:p>
                  </a:txBody>
                  <a:tcPr marL="73152" marT="27432" marB="27432" anchor="ctr">
                    <a:solidFill>
                      <a:srgbClr val="F1EFEA"/>
                    </a:solidFill>
                  </a:tcPr>
                </a:tc>
                <a:tc>
                  <a:txBody>
                    <a:bodyPr wrap="square"/>
                    <a:lstStyle/>
                    <a:p>
                      <a:r>
                        <a:rPr sz="1300" b="0" i="0">
                          <a:solidFill>
                            <a:srgbClr val="1C1E22"/>
                          </a:solidFill>
                          <a:latin typeface="Calibri"/>
                        </a:rPr>
                        <a:t>"sum of," "the formula," "FNV," "hash of," "modulo" with no result stated</a:t>
                      </a:r>
                    </a:p>
                  </a:txBody>
                  <a:tcPr marL="73152" marT="27432" marB="27432" anchor="ctr">
                    <a:solidFill>
                      <a:srgbClr val="F1EFEA"/>
                    </a:solidFill>
                  </a:tcPr>
                </a:tc>
                <a:tc>
                  <a:txBody>
                    <a:bodyPr wrap="square"/>
                    <a:lstStyle/>
                    <a:p>
                      <a:r>
                        <a:rPr sz="1300" b="0" i="0">
                          <a:solidFill>
                            <a:srgbClr val="1C1E22"/>
                          </a:solidFill>
                          <a:latin typeface="Calibri"/>
                        </a:rPr>
                        <a:t>A literal computed number nearby (= n, e.g. n, → n)</a:t>
                      </a:r>
                    </a:p>
                  </a:txBody>
                  <a:tcPr marL="73152" marT="27432" marB="27432" anchor="ctr">
                    <a:solidFill>
                      <a:srgbClr val="F1EFEA"/>
                    </a:solidFill>
                  </a:tcPr>
                </a:tc>
              </a:tr>
              <a:tr h="457200">
                <a:tc>
                  <a:txBody>
                    <a:bodyPr wrap="square"/>
                    <a:lstStyle/>
                    <a:p>
                      <a:r>
                        <a:rPr sz="1300" b="1" i="0">
                          <a:solidFill>
                            <a:srgbClr val="1C1E22"/>
                          </a:solidFill>
                          <a:latin typeface="Calibri"/>
                        </a:rPr>
                        <a:t>6 — Symbolic refs</a:t>
                      </a:r>
                    </a:p>
                  </a:txBody>
                  <a:tcPr marL="73152" marT="27432" marB="27432" anchor="ctr">
                    <a:solidFill>
                      <a:srgbClr val="FFFFFF"/>
                    </a:solidFill>
                  </a:tcPr>
                </a:tc>
                <a:tc>
                  <a:txBody>
                    <a:bodyPr wrap="square"/>
                    <a:lstStyle/>
                    <a:p>
                      <a:r>
                        <a:rPr sz="1300" b="0" i="0">
                          <a:solidFill>
                            <a:srgbClr val="1C1E22"/>
                          </a:solidFill>
                          <a:latin typeface="Calibri"/>
                        </a:rPr>
                        <a:t>"use the X type from Y," "as defined above," "the standard value"</a:t>
                      </a:r>
                    </a:p>
                  </a:txBody>
                  <a:tcPr marL="73152" marT="27432" marB="27432" anchor="ctr">
                    <a:solidFill>
                      <a:srgbClr val="FFFFFF"/>
                    </a:solidFill>
                  </a:tcPr>
                </a:tc>
                <a:tc>
                  <a:txBody>
                    <a:bodyPr wrap="square"/>
                    <a:lstStyle/>
                    <a:p>
                      <a:r>
                        <a:rPr sz="1300" b="0" i="0">
                          <a:solidFill>
                            <a:srgbClr val="1C1E22"/>
                          </a:solidFill>
                          <a:latin typeface="Calibri"/>
                        </a:rPr>
                        <a:t>A literal value given on the same line</a:t>
                      </a:r>
                    </a:p>
                  </a:txBody>
                  <a:tcPr marL="73152" marT="27432" marB="27432" anchor="ctr">
                    <a:solidFill>
                      <a:srgbClr val="FFFFFF"/>
                    </a:solidFill>
                  </a:tcPr>
                </a:tc>
              </a:tr>
              <a:tr h="457200">
                <a:tc>
                  <a:txBody>
                    <a:bodyPr wrap="square"/>
                    <a:lstStyle/>
                    <a:p>
                      <a:r>
                        <a:rPr sz="1300" b="1" i="0">
                          <a:solidFill>
                            <a:srgbClr val="1C1E22"/>
                          </a:solidFill>
                          <a:latin typeface="Calibri"/>
                        </a:rPr>
                        <a:t>7 — Entry point</a:t>
                      </a:r>
                    </a:p>
                  </a:txBody>
                  <a:tcPr marL="73152" marT="27432" marB="27432" anchor="ctr">
                    <a:solidFill>
                      <a:srgbClr val="F1EFEA"/>
                    </a:solidFill>
                  </a:tcPr>
                </a:tc>
                <a:tc>
                  <a:txBody>
                    <a:bodyPr wrap="square"/>
                    <a:lstStyle/>
                    <a:p>
                      <a:r>
                        <a:rPr sz="1300" b="0" i="0">
                          <a:solidFill>
                            <a:srgbClr val="1C1E22"/>
                          </a:solidFill>
                          <a:latin typeface="Calibri"/>
                        </a:rPr>
                        <a:t>main.go named as an output file</a:t>
                      </a:r>
                    </a:p>
                  </a:txBody>
                  <a:tcPr marL="73152" marT="27432" marB="27432" anchor="ctr">
                    <a:solidFill>
                      <a:srgbClr val="F1EFEA"/>
                    </a:solidFill>
                  </a:tcPr>
                </a:tc>
                <a:tc>
                  <a:txBody>
                    <a:bodyPr wrap="square"/>
                    <a:lstStyle/>
                    <a:p>
                      <a:r>
                        <a:rPr sz="1300" b="0" i="0">
                          <a:solidFill>
                            <a:srgbClr val="1C1E22"/>
                          </a:solidFill>
                          <a:latin typeface="Calibri"/>
                        </a:rPr>
                        <a:t>The literal string "package main" appearing anywhere in the doc</a:t>
                      </a:r>
                    </a:p>
                  </a:txBody>
                  <a:tcPr marL="73152" marT="27432" marB="27432" anchor="ctr">
                    <a:solidFill>
                      <a:srgbClr val="F1EFEA"/>
                    </a:solidFill>
                  </a:tcPr>
                </a:tc>
              </a:tr>
              <a:tr h="457200">
                <a:tc>
                  <a:txBody>
                    <a:bodyPr wrap="square"/>
                    <a:lstStyle/>
                    <a:p>
                      <a:r>
                        <a:rPr sz="1300" b="1" i="0">
                          <a:solidFill>
                            <a:srgbClr val="1C1E22"/>
                          </a:solidFill>
                          <a:latin typeface="Calibri"/>
                        </a:rPr>
                        <a:t>17 — Category phrase</a:t>
                      </a:r>
                    </a:p>
                  </a:txBody>
                  <a:tcPr marL="73152" marT="27432" marB="27432" anchor="ctr">
                    <a:solidFill>
                      <a:srgbClr val="FFFFFF"/>
                    </a:solidFill>
                  </a:tcPr>
                </a:tc>
                <a:tc>
                  <a:txBody>
                    <a:bodyPr wrap="square"/>
                    <a:lstStyle/>
                    <a:p>
                      <a:r>
                        <a:rPr sz="1300" b="0" i="0">
                          <a:solidFill>
                            <a:srgbClr val="1C1E22"/>
                          </a:solidFill>
                          <a:latin typeface="Calibri"/>
                        </a:rPr>
                        <a:t>"standard," "normal," "usual," "conventional" next to a rules/procedure noun</a:t>
                      </a:r>
                    </a:p>
                  </a:txBody>
                  <a:tcPr marL="73152" marT="27432" marB="27432" anchor="ctr">
                    <a:solidFill>
                      <a:srgbClr val="FFFFFF"/>
                    </a:solidFill>
                  </a:tcPr>
                </a:tc>
                <a:tc>
                  <a:txBody>
                    <a:bodyPr wrap="square"/>
                    <a:lstStyle/>
                    <a:p>
                      <a:r>
                        <a:rPr sz="1300" b="0" i="0">
                          <a:solidFill>
                            <a:srgbClr val="1C1E22"/>
                          </a:solidFill>
                          <a:latin typeface="Calibri"/>
                        </a:rPr>
                        <a:t>Nothing — every hit stays flagged; see next</a:t>
                      </a:r>
                    </a:p>
                  </a:txBody>
                  <a:tcPr marL="73152" marT="27432" marB="27432" anchor="ctr">
                    <a:solidFill>
                      <a:srgbClr val="FFFFFF"/>
                    </a:solidFill>
                  </a:tcPr>
                </a:tc>
              </a:tr>
            </a:tbl>
          </a:graphicData>
        </a:graphic>
      </p:graphicFrame>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07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TWO SHARPER CHECKS, SAME TOOL</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construction-form and bead-size</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10881360" cy="4297680"/>
          </a:xfrm>
          <a:prstGeom prst="rect">
            <a:avLst/>
          </a:prstGeom>
          <a:noFill/>
        </p:spPr>
        <p:txBody>
          <a:bodyPr wrap="square" anchor="t" lIns="0" rIns="0" tIns="0" bIns="0">
            <a:noAutofit/>
          </a:bodyPr>
          <a:lstStyle/>
          <a:p>
            <a:pPr>
              <a:lnSpc>
                <a:spcPct val="112000"/>
              </a:lnSpc>
              <a:spcAft>
                <a:spcPts val="1000"/>
              </a:spcAft>
            </a:pPr>
            <a:r>
              <a:rPr sz="1500" b="1" i="0">
                <a:solidFill>
                  <a:srgbClr val="3D6D7E"/>
                </a:solidFill>
                <a:latin typeface="Calibri"/>
              </a:rPr>
              <a:t>—  </a:t>
            </a:r>
            <a:r>
              <a:rPr sz="1500" b="1" i="0">
                <a:solidFill>
                  <a:srgbClr val="1C1E22"/>
                </a:solidFill>
                <a:latin typeface="Calibri"/>
              </a:rPr>
              <a:t>construction-form </a:t>
            </a:r>
            <a:r>
              <a:rPr sz="1500" b="0" i="0">
                <a:solidFill>
                  <a:srgbClr val="1C1E22"/>
                </a:solidFill>
                <a:latin typeface="Calibri"/>
              </a:rPr>
              <a:t>flags a Cross-Bead Contract that enumerates a polymorphic type's variants without ever saying pointer or value — the exact defect from the expression-VM story, where two independent beads picked opposite constructions of the same undeclared type.</a:t>
            </a:r>
          </a:p>
          <a:p>
            <a:pPr>
              <a:lnSpc>
                <a:spcPct val="112000"/>
              </a:lnSpc>
              <a:spcAft>
                <a:spcPts val="1000"/>
              </a:spcAft>
            </a:pPr>
            <a:r>
              <a:rPr sz="1500" b="1" i="0">
                <a:solidFill>
                  <a:srgbClr val="3D6D7E"/>
                </a:solidFill>
                <a:latin typeface="Calibri"/>
              </a:rPr>
              <a:t>—  </a:t>
            </a:r>
            <a:r>
              <a:rPr sz="1500" b="1" i="0">
                <a:solidFill>
                  <a:srgbClr val="1C1E22"/>
                </a:solidFill>
                <a:latin typeface="Calibri"/>
              </a:rPr>
              <a:t>bead-size </a:t>
            </a:r>
            <a:r>
              <a:rPr sz="1500" b="0" i="0">
                <a:solidFill>
                  <a:srgbClr val="1C1E22"/>
                </a:solidFill>
                <a:latin typeface="Calibri"/>
              </a:rPr>
              <a:t>flags a Decomposition Notes entry that owns 4 or more functions and is wired into 3 or more prior beads or Cross-Bead Contracts — calibrated against the project's own history until it caught every bead known to have actually spiraled and flagged none known to have run clean.</a:t>
            </a:r>
          </a:p>
          <a:p>
            <a:pPr>
              <a:lnSpc>
                <a:spcPct val="112000"/>
              </a:lnSpc>
              <a:spcAft>
                <a:spcPts val="1000"/>
              </a:spcAft>
            </a:pPr>
            <a:r>
              <a:rPr sz="1500" b="1" i="0">
                <a:solidFill>
                  <a:srgbClr val="3D6D7E"/>
                </a:solidFill>
                <a:latin typeface="Calibri"/>
              </a:rPr>
              <a:t>—  </a:t>
            </a:r>
            <a:r>
              <a:rPr sz="1500" b="0" i="0">
                <a:solidFill>
                  <a:srgbClr val="1C1E22"/>
                </a:solidFill>
                <a:latin typeface="Calibri"/>
              </a:rPr>
              <a:t>Neither is one of the eighteen catalogued ambiguity classes — they're structural checks living in the same tool, catching a different shape of gap.</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08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881360" cy="320040"/>
          </a:xfrm>
          <a:prstGeom prst="rect">
            <a:avLst/>
          </a:prstGeom>
          <a:noFill/>
        </p:spPr>
        <p:txBody>
          <a:bodyPr wrap="square" anchor="t" lIns="0" rIns="0" tIns="0" bIns="0">
            <a:noAutofit/>
          </a:bodyPr>
          <a:lstStyle/>
          <a:p>
            <a:r>
              <a:rPr sz="1300" b="1" i="0">
                <a:solidFill>
                  <a:srgbClr val="3D6D7E"/>
                </a:solidFill>
                <a:latin typeface="Consolas"/>
              </a:rPr>
              <a:t>CLASS 17 — THE ONE JUDGMENT CAN'T CATCH</a:t>
            </a:r>
          </a:p>
        </p:txBody>
      </p:sp>
      <p:sp>
        <p:nvSpPr>
          <p:cNvPr id="4" name="Rectangle 3"/>
          <p:cNvSpPr/>
          <p:nvPr/>
        </p:nvSpPr>
        <p:spPr>
          <a:xfrm>
            <a:off x="640080" y="1508760"/>
            <a:ext cx="73152" cy="3291840"/>
          </a:xfrm>
          <a:prstGeom prst="rect">
            <a:avLst/>
          </a:prstGeom>
          <a:solidFill>
            <a:srgbClr val="3D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9966960" cy="3383280"/>
          </a:xfrm>
          <a:prstGeom prst="rect">
            <a:avLst/>
          </a:prstGeom>
          <a:noFill/>
        </p:spPr>
        <p:txBody>
          <a:bodyPr wrap="square" anchor="ctr" lIns="0" rIns="0" tIns="0" bIns="0">
            <a:noAutofit/>
          </a:bodyPr>
          <a:lstStyle/>
          <a:p>
            <a:pPr>
              <a:lnSpc>
                <a:spcPct val="130000"/>
              </a:lnSpc>
            </a:pPr>
            <a:r>
              <a:rPr sz="2500" b="0" i="1">
                <a:solidFill>
                  <a:srgbClr val="3D6D7E"/>
                </a:solidFill>
                <a:latin typeface="Georgia"/>
              </a:rPr>
              <a:t>"Standard movement rules" is invisible to a reviewer who shares the author's fluency — for the identical reason the author didn't notice writing it.</a:t>
            </a:r>
          </a:p>
        </p:txBody>
      </p:sp>
      <p:sp>
        <p:nvSpPr>
          <p:cNvPr id="6" name="TextBox 5"/>
          <p:cNvSpPr txBox="1"/>
          <p:nvPr/>
        </p:nvSpPr>
        <p:spPr>
          <a:xfrm>
            <a:off x="960120" y="5074920"/>
            <a:ext cx="9966960" cy="1005840"/>
          </a:xfrm>
          <a:prstGeom prst="rect">
            <a:avLst/>
          </a:prstGeom>
          <a:noFill/>
        </p:spPr>
        <p:txBody>
          <a:bodyPr wrap="square" anchor="t" lIns="0" rIns="0" tIns="0" bIns="0">
            <a:noAutofit/>
          </a:bodyPr>
          <a:lstStyle/>
          <a:p>
            <a:pPr>
              <a:lnSpc>
                <a:spcPct val="125000"/>
              </a:lnSpc>
            </a:pPr>
            <a:r>
              <a:rPr sz="1500" b="0" i="0">
                <a:solidFill>
                  <a:srgbClr val="5F636B"/>
                </a:solidFill>
                <a:latin typeface="Calibri"/>
              </a:rPr>
              <a:t>Every other mechanical class is a cheap first-pass filter alongside a judgment pass that catches what it misses. Class 17 gets the mechanical hit treated as authoritative instead — not "judgment usually misses it" but structurally can't, because the fluency that makes a reviewer fast is the same fluency that makes them blind to a category name standing in for the rule it names.</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09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CHECK-DESIGN-DOC</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Mirrors DECOMPOSE → AUDIT → RECONCILE, one layer earlier</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65960"/>
            <a:ext cx="10881360" cy="4206240"/>
          </a:xfrm>
          <a:prstGeom prst="rect">
            <a:avLst/>
          </a:prstGeom>
          <a:noFill/>
        </p:spPr>
        <p:txBody>
          <a:bodyPr wrap="square" anchor="t" lIns="0" rIns="0" tIns="0" bIns="0">
            <a:noAutofit/>
          </a:bodyPr>
          <a:lstStyle/>
          <a:p>
            <a:pPr>
              <a:lnSpc>
                <a:spcPct val="112000"/>
              </a:lnSpc>
              <a:spcAft>
                <a:spcPts val="1000"/>
              </a:spcAft>
            </a:pPr>
            <a:r>
              <a:rPr sz="1600" b="1" i="0">
                <a:solidFill>
                  <a:srgbClr val="3D6D7E"/>
                </a:solidFill>
                <a:latin typeface="Calibri"/>
              </a:rPr>
              <a:t>—  </a:t>
            </a:r>
            <a:r>
              <a:rPr sz="1600" b="0" i="0">
                <a:solidFill>
                  <a:srgbClr val="1C1E22"/>
                </a:solidFill>
                <a:latin typeface="Calibri"/>
              </a:rPr>
              <a:t>Runs the mechanical scan first, keeps every path:line hit.</a:t>
            </a:r>
          </a:p>
          <a:p>
            <a:pPr>
              <a:lnSpc>
                <a:spcPct val="112000"/>
              </a:lnSpc>
              <a:spcAft>
                <a:spcPts val="1000"/>
              </a:spcAft>
            </a:pPr>
            <a:r>
              <a:rPr sz="1600" b="1" i="0">
                <a:solidFill>
                  <a:srgbClr val="3D6D7E"/>
                </a:solidFill>
                <a:latin typeface="Calibri"/>
              </a:rPr>
              <a:t>—  </a:t>
            </a:r>
            <a:r>
              <a:rPr sz="1600" b="0" i="0">
                <a:solidFill>
                  <a:srgbClr val="1C1E22"/>
                </a:solidFill>
                <a:latin typeface="Calibri"/>
              </a:rPr>
              <a:t>Separately dispatches a fresh subagent with nothing but the doc and the current checklist — not the mechanical report, not who wrote the doc or why. Feeding the mechanical hits in first would anchor its judgment and defeat the point of a second, independent pass.</a:t>
            </a:r>
          </a:p>
          <a:p>
            <a:pPr>
              <a:lnSpc>
                <a:spcPct val="112000"/>
              </a:lnSpc>
              <a:spcAft>
                <a:spcPts val="1000"/>
              </a:spcAft>
            </a:pPr>
            <a:r>
              <a:rPr sz="1600" b="1" i="0">
                <a:solidFill>
                  <a:srgbClr val="3D6D7E"/>
                </a:solidFill>
                <a:latin typeface="Calibri"/>
              </a:rPr>
              <a:t>—  </a:t>
            </a:r>
            <a:r>
              <a:rPr sz="1600" b="0" i="0">
                <a:solidFill>
                  <a:srgbClr val="1C1E22"/>
                </a:solidFill>
                <a:latin typeface="Calibri"/>
              </a:rPr>
              <a:t>The subagent is explicitly told that finding nothing is an acceptable result — manufacturing findings to look thorough is its own kind of failure.</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10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RECONCILING TWO INDEPENDENT OPINIONS</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000" b="1" i="0">
                <a:solidFill>
                  <a:srgbClr val="1C1E22"/>
                </a:solidFill>
                <a:latin typeface="Georgia"/>
              </a:rPr>
              <a:t>The asymmetric rule</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640080" y="1965960"/>
          <a:ext cx="10881360" cy="2286000"/>
        </p:xfrm>
        <a:graphic>
          <a:graphicData uri="http://schemas.openxmlformats.org/drawingml/2006/table">
            <a:tbl>
              <a:tblPr firstRow="1" bandRow="1">
                <a:tableStyleId>{5C22544A-7EE6-4342-B048-85BDC9FD1C3A}</a:tableStyleId>
              </a:tblPr>
              <a:tblGrid>
                <a:gridCol w="2331720"/>
                <a:gridCol w="3108960"/>
                <a:gridCol w="5440680"/>
              </a:tblGrid>
              <a:tr h="457200">
                <a:tc>
                  <a:txBody>
                    <a:bodyPr/>
                    <a:lstStyle/>
                    <a:p>
                      <a:r>
                        <a:rPr sz="1400" b="1" i="0">
                          <a:solidFill>
                            <a:srgbClr val="FFFFFF"/>
                          </a:solidFill>
                          <a:latin typeface="Consolas"/>
                        </a:rPr>
                        <a:t>Site flagged by…</a:t>
                      </a:r>
                    </a:p>
                  </a:txBody>
                  <a:tcPr marL="73152" marT="36576" marB="36576" anchor="ctr">
                    <a:solidFill>
                      <a:srgbClr val="1C1E22"/>
                    </a:solidFill>
                  </a:tcPr>
                </a:tc>
                <a:tc>
                  <a:txBody>
                    <a:bodyPr/>
                    <a:lstStyle/>
                    <a:p>
                      <a:r>
                        <a:rPr sz="1400" b="1" i="0">
                          <a:solidFill>
                            <a:srgbClr val="FFFFFF"/>
                          </a:solidFill>
                          <a:latin typeface="Consolas"/>
                        </a:rPr>
                        <a:t>Becomes</a:t>
                      </a:r>
                    </a:p>
                  </a:txBody>
                  <a:tcPr marL="73152" marT="36576" marB="36576" anchor="ctr">
                    <a:solidFill>
                      <a:srgbClr val="1C1E22"/>
                    </a:solidFill>
                  </a:tcPr>
                </a:tc>
                <a:tc>
                  <a:txBody>
                    <a:bodyPr/>
                    <a:lstStyle/>
                    <a:p>
                      <a:r>
                        <a:rPr sz="1400" b="1" i="0">
                          <a:solidFill>
                            <a:srgbClr val="FFFFFF"/>
                          </a:solidFill>
                          <a:latin typeface="Consolas"/>
                        </a:rPr>
                        <a:t>Rule</a:t>
                      </a:r>
                    </a:p>
                  </a:txBody>
                  <a:tcPr marL="73152" marT="36576" marB="36576" anchor="ctr">
                    <a:solidFill>
                      <a:srgbClr val="1C1E22"/>
                    </a:solidFill>
                  </a:tcPr>
                </a:tc>
              </a:tr>
              <a:tr h="457200">
                <a:tc>
                  <a:txBody>
                    <a:bodyPr wrap="square"/>
                    <a:lstStyle/>
                    <a:p>
                      <a:r>
                        <a:rPr sz="1400" b="1" i="0">
                          <a:solidFill>
                            <a:srgbClr val="1C1E22"/>
                          </a:solidFill>
                          <a:latin typeface="Calibri"/>
                        </a:rPr>
                        <a:t>Both passes</a:t>
                      </a:r>
                    </a:p>
                  </a:txBody>
                  <a:tcPr marL="73152" marT="27432" marB="27432" anchor="ctr">
                    <a:solidFill>
                      <a:srgbClr val="FFFFFF"/>
                    </a:solidFill>
                  </a:tcPr>
                </a:tc>
                <a:tc>
                  <a:txBody>
                    <a:bodyPr wrap="square"/>
                    <a:lstStyle/>
                    <a:p>
                      <a:r>
                        <a:rPr sz="1400" b="0" i="0">
                          <a:solidFill>
                            <a:srgbClr val="1C1E22"/>
                          </a:solidFill>
                          <a:latin typeface="Calibri"/>
                        </a:rPr>
                        <a:t>One item, source "both"</a:t>
                      </a:r>
                    </a:p>
                  </a:txBody>
                  <a:tcPr marL="73152" marT="27432" marB="27432" anchor="ctr">
                    <a:solidFill>
                      <a:srgbClr val="FFFFFF"/>
                    </a:solidFill>
                  </a:tcPr>
                </a:tc>
                <a:tc>
                  <a:txBody>
                    <a:bodyPr wrap="square"/>
                    <a:lstStyle/>
                    <a:p>
                      <a:r>
                        <a:rPr sz="1400" b="0" i="0">
                          <a:solidFill>
                            <a:srgbClr val="1C1E22"/>
                          </a:solidFill>
                          <a:latin typeface="Calibri"/>
                        </a:rPr>
                        <a:t>Straightforward agreement.</a:t>
                      </a:r>
                    </a:p>
                  </a:txBody>
                  <a:tcPr marL="73152" marT="27432" marB="27432" anchor="ctr">
                    <a:solidFill>
                      <a:srgbClr val="FFFFFF"/>
                    </a:solidFill>
                  </a:tcPr>
                </a:tc>
              </a:tr>
              <a:tr h="457200">
                <a:tc>
                  <a:txBody>
                    <a:bodyPr wrap="square"/>
                    <a:lstStyle/>
                    <a:p>
                      <a:r>
                        <a:rPr sz="1400" b="1" i="0">
                          <a:solidFill>
                            <a:srgbClr val="1C1E22"/>
                          </a:solidFill>
                          <a:latin typeface="Calibri"/>
                        </a:rPr>
                        <a:t>Mechanical only</a:t>
                      </a:r>
                    </a:p>
                  </a:txBody>
                  <a:tcPr marL="73152" marT="27432" marB="27432" anchor="ctr">
                    <a:solidFill>
                      <a:srgbClr val="F1EFEA"/>
                    </a:solidFill>
                  </a:tcPr>
                </a:tc>
                <a:tc>
                  <a:txBody>
                    <a:bodyPr wrap="square"/>
                    <a:lstStyle/>
                    <a:p>
                      <a:r>
                        <a:rPr sz="1400" b="0" i="0">
                          <a:solidFill>
                            <a:srgbClr val="1C1E22"/>
                          </a:solidFill>
                          <a:latin typeface="Calibri"/>
                        </a:rPr>
                        <a:t>Carried forward, unresolved</a:t>
                      </a:r>
                    </a:p>
                  </a:txBody>
                  <a:tcPr marL="73152" marT="27432" marB="27432" anchor="ctr">
                    <a:solidFill>
                      <a:srgbClr val="F1EFEA"/>
                    </a:solidFill>
                  </a:tcPr>
                </a:tc>
                <a:tc>
                  <a:txBody>
                    <a:bodyPr wrap="square"/>
                    <a:lstStyle/>
                    <a:p>
                      <a:r>
                        <a:rPr sz="1400" b="0" i="0">
                          <a:solidFill>
                            <a:srgbClr val="1C1E22"/>
                          </a:solidFill>
                          <a:latin typeface="Calibri"/>
                        </a:rPr>
                        <a:t>Never dropped just because the reviewer didn't raise it.</a:t>
                      </a:r>
                    </a:p>
                  </a:txBody>
                  <a:tcPr marL="73152" marT="27432" marB="27432" anchor="ctr">
                    <a:solidFill>
                      <a:srgbClr val="F1EFEA"/>
                    </a:solidFill>
                  </a:tcPr>
                </a:tc>
              </a:tr>
              <a:tr h="457200">
                <a:tc>
                  <a:txBody>
                    <a:bodyPr wrap="square"/>
                    <a:lstStyle/>
                    <a:p>
                      <a:r>
                        <a:rPr sz="1400" b="1" i="0">
                          <a:solidFill>
                            <a:srgbClr val="1C1E22"/>
                          </a:solidFill>
                          <a:latin typeface="Calibri"/>
                        </a:rPr>
                        <a:t>Class 17 (any pass)</a:t>
                      </a:r>
                    </a:p>
                  </a:txBody>
                  <a:tcPr marL="73152" marT="27432" marB="27432" anchor="ctr">
                    <a:solidFill>
                      <a:srgbClr val="FFFFFF"/>
                    </a:solidFill>
                  </a:tcPr>
                </a:tc>
                <a:tc>
                  <a:txBody>
                    <a:bodyPr wrap="square"/>
                    <a:lstStyle/>
                    <a:p>
                      <a:r>
                        <a:rPr sz="1400" b="0" i="0">
                          <a:solidFill>
                            <a:srgbClr val="1C1E22"/>
                          </a:solidFill>
                          <a:latin typeface="Calibri"/>
                        </a:rPr>
                        <a:t>Always carried forward</a:t>
                      </a:r>
                    </a:p>
                  </a:txBody>
                  <a:tcPr marL="73152" marT="27432" marB="27432" anchor="ctr">
                    <a:solidFill>
                      <a:srgbClr val="FFFFFF"/>
                    </a:solidFill>
                  </a:tcPr>
                </a:tc>
                <a:tc>
                  <a:txBody>
                    <a:bodyPr wrap="square"/>
                    <a:lstStyle/>
                    <a:p>
                      <a:r>
                        <a:rPr sz="1400" b="0" i="0">
                          <a:solidFill>
                            <a:srgbClr val="1C1E22"/>
                          </a:solidFill>
                          <a:latin typeface="Calibri"/>
                        </a:rPr>
                        <a:t>A same-fluency reviewer not raising it is expected, not reassurance.</a:t>
                      </a:r>
                    </a:p>
                  </a:txBody>
                  <a:tcPr marL="73152" marT="27432" marB="27432" anchor="ctr">
                    <a:solidFill>
                      <a:srgbClr val="FFFFFF"/>
                    </a:solidFill>
                  </a:tcPr>
                </a:tc>
              </a:tr>
              <a:tr h="457200">
                <a:tc>
                  <a:txBody>
                    <a:bodyPr wrap="square"/>
                    <a:lstStyle/>
                    <a:p>
                      <a:r>
                        <a:rPr sz="1400" b="1" i="0">
                          <a:solidFill>
                            <a:srgbClr val="1C1E22"/>
                          </a:solidFill>
                          <a:latin typeface="Calibri"/>
                        </a:rPr>
                        <a:t>Judgment only</a:t>
                      </a:r>
                    </a:p>
                  </a:txBody>
                  <a:tcPr marL="73152" marT="27432" marB="27432" anchor="ctr">
                    <a:solidFill>
                      <a:srgbClr val="F1EFEA"/>
                    </a:solidFill>
                  </a:tcPr>
                </a:tc>
                <a:tc>
                  <a:txBody>
                    <a:bodyPr wrap="square"/>
                    <a:lstStyle/>
                    <a:p>
                      <a:r>
                        <a:rPr sz="1400" b="0" i="0">
                          <a:solidFill>
                            <a:srgbClr val="1C1E22"/>
                          </a:solidFill>
                          <a:latin typeface="Calibri"/>
                        </a:rPr>
                        <a:t>One item, source "judgment"</a:t>
                      </a:r>
                    </a:p>
                  </a:txBody>
                  <a:tcPr marL="73152" marT="27432" marB="27432" anchor="ctr">
                    <a:solidFill>
                      <a:srgbClr val="F1EFEA"/>
                    </a:solidFill>
                  </a:tcPr>
                </a:tc>
                <a:tc>
                  <a:txBody>
                    <a:bodyPr wrap="square"/>
                    <a:lstStyle/>
                    <a:p>
                      <a:r>
                        <a:rPr sz="1400" b="0" i="0">
                          <a:solidFill>
                            <a:srgbClr val="1C1E22"/>
                          </a:solidFill>
                          <a:latin typeface="Calibri"/>
                        </a:rPr>
                        <a:t>The independent read caught something mechanical can't reach.</a:t>
                      </a:r>
                    </a:p>
                  </a:txBody>
                  <a:tcPr marL="73152" marT="27432" marB="27432" anchor="ctr">
                    <a:solidFill>
                      <a:srgbClr val="F1EFEA"/>
                    </a:solidFill>
                  </a:tcPr>
                </a:tc>
              </a:tr>
            </a:tbl>
          </a:graphicData>
        </a:graphic>
      </p:graphicFrame>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11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SIGN-OFF</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Every row starts as "needs decision"</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10881360" cy="4297680"/>
          </a:xfrm>
          <a:prstGeom prst="rect">
            <a:avLst/>
          </a:prstGeom>
          <a:noFill/>
        </p:spPr>
        <p:txBody>
          <a:bodyPr wrap="square" anchor="t" lIns="0" rIns="0" tIns="0" bIns="0">
            <a:noAutofit/>
          </a:bodyPr>
          <a:lstStyle/>
          <a:p>
            <a:pPr>
              <a:lnSpc>
                <a:spcPct val="112000"/>
              </a:lnSpc>
              <a:spcAft>
                <a:spcPts val="1000"/>
              </a:spcAft>
            </a:pPr>
            <a:r>
              <a:rPr sz="1500" b="1" i="0">
                <a:solidFill>
                  <a:srgbClr val="3D6D7E"/>
                </a:solidFill>
                <a:latin typeface="Calibri"/>
              </a:rPr>
              <a:t>—  </a:t>
            </a:r>
            <a:r>
              <a:rPr sz="1500" b="0" i="0">
                <a:solidFill>
                  <a:srgbClr val="1C1E22"/>
                </a:solidFill>
                <a:latin typeface="Calibri"/>
              </a:rPr>
              <a:t>Resolving a row means one of three things happens explicitly: apply the suggested rewrite, apply a different answer, or affirmatively waive it — with the reason written into the doc as an inline comment, so the next run doesn't silently re-litigate it.</a:t>
            </a:r>
          </a:p>
          <a:p>
            <a:pPr>
              <a:lnSpc>
                <a:spcPct val="112000"/>
              </a:lnSpc>
              <a:spcAft>
                <a:spcPts val="1000"/>
              </a:spcAft>
            </a:pPr>
            <a:r>
              <a:rPr sz="1500" b="1" i="0">
                <a:solidFill>
                  <a:srgbClr val="3D6D7E"/>
                </a:solidFill>
                <a:latin typeface="Calibri"/>
              </a:rPr>
              <a:t>—  </a:t>
            </a:r>
            <a:r>
              <a:rPr sz="1500" b="0" i="0">
                <a:solidFill>
                  <a:srgbClr val="1C1E22"/>
                </a:solidFill>
                <a:latin typeface="Calibri"/>
              </a:rPr>
              <a:t>A class-17 item can't be waived with "a reviewer would understand this" — that sentence is the exact failure mode the class exists to catch.</a:t>
            </a:r>
          </a:p>
          <a:p>
            <a:pPr>
              <a:lnSpc>
                <a:spcPct val="112000"/>
              </a:lnSpc>
              <a:spcAft>
                <a:spcPts val="1000"/>
              </a:spcAft>
            </a:pPr>
            <a:r>
              <a:rPr sz="1500" b="1" i="0">
                <a:solidFill>
                  <a:srgbClr val="3D6D7E"/>
                </a:solidFill>
                <a:latin typeface="Calibri"/>
              </a:rPr>
              <a:t>—  </a:t>
            </a:r>
            <a:r>
              <a:rPr sz="1500" b="0" i="0">
                <a:solidFill>
                  <a:srgbClr val="1C1E22"/>
                </a:solidFill>
                <a:latin typeface="Calibri"/>
              </a:rPr>
              <a:t>Clearance is two separate confirmations: "cleared for new-project" prints only once every row is resolved, and copying the doc into a project folder is a second, separate action. Nothing about a clean report auto-starts anything.</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12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D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651760"/>
            <a:ext cx="10881360" cy="320040"/>
          </a:xfrm>
          <a:prstGeom prst="rect">
            <a:avLst/>
          </a:prstGeom>
          <a:noFill/>
        </p:spPr>
        <p:txBody>
          <a:bodyPr wrap="square" anchor="t" lIns="0" rIns="0" tIns="0" bIns="0">
            <a:noAutofit/>
          </a:bodyPr>
          <a:lstStyle/>
          <a:p>
            <a:r>
              <a:rPr sz="1300" b="1" i="0">
                <a:solidFill>
                  <a:srgbClr val="D8E7EA"/>
                </a:solidFill>
                <a:latin typeface="Consolas"/>
              </a:rPr>
              <a:t>WHAT IT FOUND, THE FIRST TIME IT RAN FOR REAL</a:t>
            </a:r>
          </a:p>
        </p:txBody>
      </p:sp>
      <p:sp>
        <p:nvSpPr>
          <p:cNvPr id="4" name="TextBox 3"/>
          <p:cNvSpPr txBox="1"/>
          <p:nvPr/>
        </p:nvSpPr>
        <p:spPr>
          <a:xfrm>
            <a:off x="822960" y="3063240"/>
            <a:ext cx="10515600" cy="1645920"/>
          </a:xfrm>
          <a:prstGeom prst="rect">
            <a:avLst/>
          </a:prstGeom>
          <a:noFill/>
        </p:spPr>
        <p:txBody>
          <a:bodyPr wrap="square" anchor="t" lIns="0" rIns="0" tIns="0" bIns="0">
            <a:noAutofit/>
          </a:bodyPr>
          <a:lstStyle/>
          <a:p>
            <a:pPr>
              <a:lnSpc>
                <a:spcPct val="105000"/>
              </a:lnSpc>
            </a:pPr>
            <a:r>
              <a:rPr sz="4400" b="1" i="0">
                <a:solidFill>
                  <a:srgbClr val="FFFFFF"/>
                </a:solidFill>
                <a:latin typeface="Georgia"/>
              </a:rPr>
              <a:t>Four docs, already scheduled to run, during burn-in prep</a:t>
            </a:r>
          </a:p>
        </p:txBody>
      </p:sp>
      <p:sp>
        <p:nvSpPr>
          <p:cNvPr id="5" name="TextBox 4"/>
          <p:cNvSpPr txBox="1"/>
          <p:nvPr/>
        </p:nvSpPr>
        <p:spPr>
          <a:xfrm>
            <a:off x="868680" y="4343400"/>
            <a:ext cx="9601200" cy="914400"/>
          </a:xfrm>
          <a:prstGeom prst="rect">
            <a:avLst/>
          </a:prstGeom>
          <a:noFill/>
        </p:spPr>
        <p:txBody>
          <a:bodyPr wrap="square" anchor="t" lIns="0" rIns="0" tIns="0" bIns="0">
            <a:noAutofit/>
          </a:bodyPr>
          <a:lstStyle/>
          <a:p>
            <a:pPr>
              <a:lnSpc>
                <a:spcPct val="130000"/>
              </a:lnSpc>
            </a:pPr>
            <a:r>
              <a:rPr sz="1600" b="0" i="1">
                <a:solidFill>
                  <a:srgbClr val="E3ECEE"/>
                </a:solidFill>
                <a:latin typeface="Calibri"/>
              </a:rPr>
              <a:t>The workflow's own design notes are candid that it hadn't been run on a doc nobody had drafted with the tool already in mind. This was that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188720"/>
            <a:ext cx="10881360" cy="320040"/>
          </a:xfrm>
          <a:prstGeom prst="rect">
            <a:avLst/>
          </a:prstGeom>
          <a:noFill/>
        </p:spPr>
        <p:txBody>
          <a:bodyPr wrap="square" anchor="t" lIns="0" rIns="0" tIns="0" bIns="0">
            <a:noAutofit/>
          </a:bodyPr>
          <a:lstStyle/>
          <a:p>
            <a:r>
              <a:rPr sz="1300" b="1" i="0">
                <a:solidFill>
                  <a:srgbClr val="3D6D7E"/>
                </a:solidFill>
                <a:latin typeface="Consolas"/>
              </a:rPr>
              <a:t>THE TIER-3 RUN</a:t>
            </a:r>
          </a:p>
        </p:txBody>
      </p:sp>
      <p:sp>
        <p:nvSpPr>
          <p:cNvPr id="4" name="TextBox 3"/>
          <p:cNvSpPr txBox="1"/>
          <p:nvPr/>
        </p:nvSpPr>
        <p:spPr>
          <a:xfrm>
            <a:off x="640080" y="1645920"/>
            <a:ext cx="10881360" cy="2377440"/>
          </a:xfrm>
          <a:prstGeom prst="rect">
            <a:avLst/>
          </a:prstGeom>
          <a:noFill/>
        </p:spPr>
        <p:txBody>
          <a:bodyPr wrap="square" anchor="ctr" lIns="0" rIns="0" tIns="0" bIns="0">
            <a:noAutofit/>
          </a:bodyPr>
          <a:lstStyle/>
          <a:p>
            <a:r>
              <a:rPr sz="10000" b="1" i="0">
                <a:solidFill>
                  <a:srgbClr val="3D6D7E"/>
                </a:solidFill>
                <a:latin typeface="Georgia"/>
              </a:rPr>
              <a:t>20 / 4</a:t>
            </a:r>
          </a:p>
        </p:txBody>
      </p:sp>
      <p:sp>
        <p:nvSpPr>
          <p:cNvPr id="5" name="TextBox 4"/>
          <p:cNvSpPr txBox="1"/>
          <p:nvPr/>
        </p:nvSpPr>
        <p:spPr>
          <a:xfrm>
            <a:off x="685800" y="4114800"/>
            <a:ext cx="10515600" cy="731520"/>
          </a:xfrm>
          <a:prstGeom prst="rect">
            <a:avLst/>
          </a:prstGeom>
          <a:noFill/>
        </p:spPr>
        <p:txBody>
          <a:bodyPr wrap="square" anchor="t" lIns="0" rIns="0" tIns="0" bIns="0">
            <a:noAutofit/>
          </a:bodyPr>
          <a:lstStyle/>
          <a:p>
            <a:r>
              <a:rPr sz="2400" b="1" i="0">
                <a:solidFill>
                  <a:srgbClr val="1C1E22"/>
                </a:solidFill>
                <a:latin typeface="Calibri"/>
              </a:rPr>
              <a:t>genuine ambiguities found · shared by the hand-verified reference implementations</a:t>
            </a:r>
          </a:p>
        </p:txBody>
      </p:sp>
      <p:sp>
        <p:nvSpPr>
          <p:cNvPr id="6" name="TextBox 5"/>
          <p:cNvSpPr txBox="1"/>
          <p:nvPr/>
        </p:nvSpPr>
        <p:spPr>
          <a:xfrm>
            <a:off x="685800" y="4800600"/>
            <a:ext cx="9875520" cy="1280160"/>
          </a:xfrm>
          <a:prstGeom prst="rect">
            <a:avLst/>
          </a:prstGeom>
          <a:noFill/>
        </p:spPr>
        <p:txBody>
          <a:bodyPr wrap="square" anchor="t" lIns="0" rIns="0" tIns="0" bIns="0">
            <a:noAutofit/>
          </a:bodyPr>
          <a:lstStyle/>
          <a:p>
            <a:pPr>
              <a:lnSpc>
                <a:spcPct val="125000"/>
              </a:lnSpc>
            </a:pPr>
            <a:r>
              <a:rPr sz="1600" b="0" i="0">
                <a:solidFill>
                  <a:srgbClr val="5F636B"/>
                </a:solidFill>
                <a:latin typeface="Calibri"/>
              </a:rPr>
              <a:t>About fifteen were doc-only imprecision the reference implementation happened to sidestep. Four were sharper: the reference implementation had faithfully carried the same gap forward rather than exposing it.</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14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881360" cy="320040"/>
          </a:xfrm>
          <a:prstGeom prst="rect">
            <a:avLst/>
          </a:prstGeom>
          <a:noFill/>
        </p:spPr>
        <p:txBody>
          <a:bodyPr wrap="square" anchor="t" lIns="0" rIns="0" tIns="0" bIns="0">
            <a:noAutofit/>
          </a:bodyPr>
          <a:lstStyle/>
          <a:p>
            <a:r>
              <a:rPr sz="1300" b="1" i="0">
                <a:solidFill>
                  <a:srgbClr val="3D6D7E"/>
                </a:solidFill>
                <a:latin typeface="Consolas"/>
              </a:rPr>
              <a:t>THE BUG THE DOC AND THE REFERENCE SHARED</a:t>
            </a:r>
          </a:p>
        </p:txBody>
      </p:sp>
      <p:sp>
        <p:nvSpPr>
          <p:cNvPr id="4" name="TextBox 3"/>
          <p:cNvSpPr txBox="1"/>
          <p:nvPr/>
        </p:nvSpPr>
        <p:spPr>
          <a:xfrm>
            <a:off x="640080" y="713232"/>
            <a:ext cx="10881360" cy="1371600"/>
          </a:xfrm>
          <a:prstGeom prst="rect">
            <a:avLst/>
          </a:prstGeom>
          <a:noFill/>
        </p:spPr>
        <p:txBody>
          <a:bodyPr wrap="square" anchor="t" lIns="0" rIns="0" tIns="0" bIns="0">
            <a:noAutofit/>
          </a:bodyPr>
          <a:lstStyle/>
          <a:p>
            <a:pPr>
              <a:lnSpc>
                <a:spcPct val="105000"/>
              </a:lnSpc>
            </a:pPr>
            <a:r>
              <a:rPr sz="3200" b="1" i="0">
                <a:solidFill>
                  <a:srgbClr val="1C1E22"/>
                </a:solidFill>
                <a:latin typeface="Georgia"/>
              </a:rPr>
              <a:t>One implementation, internally consistent, still wrong</a:t>
            </a:r>
          </a:p>
        </p:txBody>
      </p:sp>
      <p:cxnSp>
        <p:nvCxnSpPr>
          <p:cNvPr id="5" name="Connector 4"/>
          <p:cNvCxnSpPr/>
          <p:nvPr/>
        </p:nvCxnSpPr>
        <p:spPr>
          <a:xfrm>
            <a:off x="640080" y="169164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40080" y="1920240"/>
            <a:ext cx="10881360" cy="4297680"/>
          </a:xfrm>
          <a:prstGeom prst="rect">
            <a:avLst/>
          </a:prstGeom>
          <a:noFill/>
        </p:spPr>
        <p:txBody>
          <a:bodyPr wrap="square" anchor="t" lIns="0" rIns="0" tIns="0" bIns="0">
            <a:noAutofit/>
          </a:bodyPr>
          <a:lstStyle/>
          <a:p>
            <a:pPr>
              <a:lnSpc>
                <a:spcPct val="112000"/>
              </a:lnSpc>
              <a:spcAft>
                <a:spcPts val="1000"/>
              </a:spcAft>
            </a:pPr>
            <a:r>
              <a:rPr sz="1500" b="1" i="0">
                <a:solidFill>
                  <a:srgbClr val="3D6D7E"/>
                </a:solidFill>
                <a:latin typeface="Calibri"/>
              </a:rPr>
              <a:t>—  </a:t>
            </a:r>
            <a:r>
              <a:rPr sz="1500" b="0" i="0">
                <a:solidFill>
                  <a:srgbClr val="1C1E22"/>
                </a:solidFill>
                <a:latin typeface="Calibri"/>
              </a:rPr>
              <a:t>A decimal library's coefficient range was stated as including math.MinInt64 — but the library's own Neg and Abs can't actually negate that value. The doc's range and its own required operations were quietly incompatible.</a:t>
            </a:r>
          </a:p>
          <a:p>
            <a:pPr>
              <a:lnSpc>
                <a:spcPct val="112000"/>
              </a:lnSpc>
              <a:spcAft>
                <a:spcPts val="1000"/>
              </a:spcAft>
            </a:pPr>
            <a:r>
              <a:rPr sz="1500" b="1" i="0">
                <a:solidFill>
                  <a:srgbClr val="3D6D7E"/>
                </a:solidFill>
                <a:latin typeface="Calibri"/>
              </a:rPr>
              <a:t>—  </a:t>
            </a:r>
            <a:r>
              <a:rPr sz="1500" b="0" i="0">
                <a:solidFill>
                  <a:srgbClr val="1C1E22"/>
                </a:solidFill>
                <a:latin typeface="Calibri"/>
              </a:rPr>
              <a:t>A retry engine's CLI silently defaulted a malformed delay argument to zero instead of reporting it as bad input.</a:t>
            </a:r>
          </a:p>
          <a:p>
            <a:pPr>
              <a:lnSpc>
                <a:spcPct val="112000"/>
              </a:lnSpc>
              <a:spcAft>
                <a:spcPts val="1000"/>
              </a:spcAft>
            </a:pPr>
            <a:r>
              <a:rPr sz="1500" b="1" i="0">
                <a:solidFill>
                  <a:srgbClr val="3D6D7E"/>
                </a:solidFill>
                <a:latin typeface="Calibri"/>
              </a:rPr>
              <a:t>—  </a:t>
            </a:r>
            <a:r>
              <a:rPr sz="1500" b="0" i="0">
                <a:solidFill>
                  <a:srgbClr val="1C1E22"/>
                </a:solidFill>
                <a:latin typeface="Calibri"/>
              </a:rPr>
              <a:t>The pointer-versus-value story again, in a different shape: an ambiguous spec doesn't just risk two implementations disagreeing — it can produce one implementation that's consistent with itself and still wrong, with nothing in a single build to expose the seam.</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15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10881360" cy="320040"/>
          </a:xfrm>
          <a:prstGeom prst="rect">
            <a:avLst/>
          </a:prstGeom>
          <a:noFill/>
        </p:spPr>
        <p:txBody>
          <a:bodyPr wrap="square" anchor="t" lIns="0" rIns="0" tIns="0" bIns="0">
            <a:noAutofit/>
          </a:bodyPr>
          <a:lstStyle/>
          <a:p>
            <a:r>
              <a:rPr sz="1300" b="1" i="0">
                <a:solidFill>
                  <a:srgbClr val="3D6D7E"/>
                </a:solidFill>
                <a:latin typeface="Consolas"/>
              </a:rPr>
              <a:t>CLASS 18, BORN FROM CONVERGENCE</a:t>
            </a:r>
          </a:p>
        </p:txBody>
      </p:sp>
      <p:sp>
        <p:nvSpPr>
          <p:cNvPr id="4" name="Rectangle 3"/>
          <p:cNvSpPr/>
          <p:nvPr/>
        </p:nvSpPr>
        <p:spPr>
          <a:xfrm>
            <a:off x="640080" y="1508760"/>
            <a:ext cx="73152" cy="3291840"/>
          </a:xfrm>
          <a:prstGeom prst="rect">
            <a:avLst/>
          </a:prstGeom>
          <a:solidFill>
            <a:srgbClr val="3D6D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9966960" cy="3383280"/>
          </a:xfrm>
          <a:prstGeom prst="rect">
            <a:avLst/>
          </a:prstGeom>
          <a:noFill/>
        </p:spPr>
        <p:txBody>
          <a:bodyPr wrap="square" anchor="ctr" lIns="0" rIns="0" tIns="0" bIns="0">
            <a:noAutofit/>
          </a:bodyPr>
          <a:lstStyle/>
          <a:p>
            <a:pPr>
              <a:lnSpc>
                <a:spcPct val="130000"/>
              </a:lnSpc>
            </a:pPr>
            <a:r>
              <a:rPr sz="2500" b="0" i="1">
                <a:solidFill>
                  <a:srgbClr val="1C1E22"/>
                </a:solidFill>
                <a:latin typeface="Georgia"/>
              </a:rPr>
              <a:t>Three of four independent subagents, on three unrelated docs, raised the same kind of gap without being told to look for it.</a:t>
            </a:r>
          </a:p>
        </p:txBody>
      </p:sp>
      <p:sp>
        <p:nvSpPr>
          <p:cNvPr id="6" name="TextBox 5"/>
          <p:cNvSpPr txBox="1"/>
          <p:nvPr/>
        </p:nvSpPr>
        <p:spPr>
          <a:xfrm>
            <a:off x="960120" y="5074920"/>
            <a:ext cx="9966960" cy="1005840"/>
          </a:xfrm>
          <a:prstGeom prst="rect">
            <a:avLst/>
          </a:prstGeom>
          <a:noFill/>
        </p:spPr>
        <p:txBody>
          <a:bodyPr wrap="square" anchor="t" lIns="0" rIns="0" tIns="0" bIns="0">
            <a:noAutofit/>
          </a:bodyPr>
          <a:lstStyle/>
          <a:p>
            <a:pPr>
              <a:lnSpc>
                <a:spcPct val="125000"/>
              </a:lnSpc>
            </a:pPr>
            <a:r>
              <a:rPr sz="1500" b="0" i="0">
                <a:solidFill>
                  <a:srgbClr val="5F636B"/>
                </a:solidFill>
                <a:latin typeface="Calibri"/>
              </a:rPr>
              <a:t>A function or CLI command with more than one validation guard that can fail simultaneously, each mapping to a different error, with the doc never stating which one wins. Now the checklist's eighteenth class — about as strong a signal as this catalogue ever produces that a class is real, not one reviewer's idiosyncratic taste.</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pPr algn="l"/>
            <a:r>
              <a:rPr sz="1000" b="0" i="0">
                <a:solidFill>
                  <a:srgbClr val="5F636B"/>
                </a:solidFill>
                <a:latin typeface="Consolas"/>
              </a:rPr>
              <a:t>RATCHET · PART 5/6 · DRAFT, CHECK, SIGN OFF</a:t>
            </a:r>
          </a:p>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5F636B"/>
                </a:solidFill>
                <a:latin typeface="Consolas"/>
              </a:rPr>
              <a:t>16 / 17</a:t>
            </a:r>
          </a:p>
        </p:txBody>
      </p:sp>
      <p:cxnSp>
        <p:nvCxnSpPr>
          <p:cNvPr id="9" name="Connector 8"/>
          <p:cNvCxnSpPr/>
          <p:nvPr/>
        </p:nvCxnSpPr>
        <p:spPr>
          <a:xfrm>
            <a:off x="640080" y="6400800"/>
            <a:ext cx="10881360" cy="0"/>
          </a:xfrm>
          <a:prstGeom prst="line">
            <a:avLst/>
          </a:prstGeom>
          <a:ln w="12700">
            <a:solidFill>
              <a:srgbClr val="E2E0DA"/>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320040"/>
          </a:xfrm>
          <a:prstGeom prst="rect">
            <a:avLst/>
          </a:prstGeom>
          <a:noFill/>
        </p:spPr>
        <p:txBody>
          <a:bodyPr wrap="square" anchor="t" lIns="0" rIns="0" tIns="0" bIns="0">
            <a:noAutofit/>
          </a:bodyPr>
          <a:lstStyle/>
          <a:p>
            <a:r>
              <a:rPr sz="1300" b="1" i="0">
                <a:solidFill>
                  <a:srgbClr val="9AC7D3"/>
                </a:solidFill>
                <a:latin typeface="Consolas"/>
              </a:rPr>
              <a:t>END OF PART</a:t>
            </a:r>
          </a:p>
        </p:txBody>
      </p:sp>
      <p:sp>
        <p:nvSpPr>
          <p:cNvPr id="4" name="TextBox 3"/>
          <p:cNvSpPr txBox="1"/>
          <p:nvPr/>
        </p:nvSpPr>
        <p:spPr>
          <a:xfrm>
            <a:off x="822960" y="1874519"/>
            <a:ext cx="10332720" cy="1463040"/>
          </a:xfrm>
          <a:prstGeom prst="rect">
            <a:avLst/>
          </a:prstGeom>
          <a:noFill/>
        </p:spPr>
        <p:txBody>
          <a:bodyPr wrap="square" anchor="t" lIns="0" rIns="0" tIns="0" bIns="0">
            <a:noAutofit/>
          </a:bodyPr>
          <a:lstStyle/>
          <a:p>
            <a:pPr>
              <a:lnSpc>
                <a:spcPct val="110000"/>
              </a:lnSpc>
            </a:pPr>
            <a:r>
              <a:rPr sz="3600" b="1" i="0">
                <a:solidFill>
                  <a:srgbClr val="FFFFFF"/>
                </a:solidFill>
                <a:latin typeface="Georgia"/>
              </a:rPr>
              <a:t>The reviewing model is drawn from the same fleet as everything else in this series —</a:t>
            </a:r>
          </a:p>
        </p:txBody>
      </p:sp>
      <p:sp>
        <p:nvSpPr>
          <p:cNvPr id="5" name="TextBox 4"/>
          <p:cNvSpPr txBox="1"/>
          <p:nvPr/>
        </p:nvSpPr>
        <p:spPr>
          <a:xfrm>
            <a:off x="868680" y="3246120"/>
            <a:ext cx="9692640" cy="1920240"/>
          </a:xfrm>
          <a:prstGeom prst="rect">
            <a:avLst/>
          </a:prstGeom>
          <a:noFill/>
        </p:spPr>
        <p:txBody>
          <a:bodyPr wrap="square" anchor="t" lIns="0" rIns="0" tIns="0" bIns="0">
            <a:noAutofit/>
          </a:bodyPr>
          <a:lstStyle/>
          <a:p>
            <a:pPr>
              <a:lnSpc>
                <a:spcPct val="130000"/>
              </a:lnSpc>
            </a:pPr>
            <a:r>
              <a:rPr sz="1700" b="0" i="0">
                <a:solidFill>
                  <a:srgbClr val="C9CDD2"/>
                </a:solidFill>
                <a:latin typeface="Calibri"/>
              </a:rPr>
              <a:t>same blind spots, same fallibility. What changes is the arrangement: drafting and checking never share a memory of the same conversation, a mechanical scan runs regardless of whether judgment seems thorough enough to skip it, and the one class judgment structurally can't catch is carried forward whether or not anyone raises it.</a:t>
            </a:r>
          </a:p>
        </p:txBody>
      </p:sp>
      <p:sp>
        <p:nvSpPr>
          <p:cNvPr id="6" name="TextBox 5"/>
          <p:cNvSpPr txBox="1"/>
          <p:nvPr/>
        </p:nvSpPr>
        <p:spPr>
          <a:xfrm>
            <a:off x="868680" y="5486400"/>
            <a:ext cx="9692640" cy="548640"/>
          </a:xfrm>
          <a:prstGeom prst="rect">
            <a:avLst/>
          </a:prstGeom>
          <a:noFill/>
        </p:spPr>
        <p:txBody>
          <a:bodyPr wrap="square" anchor="t" lIns="0" rIns="0" tIns="0" bIns="0">
            <a:noAutofit/>
          </a:bodyPr>
          <a:lstStyle/>
          <a:p>
            <a:r>
              <a:rPr sz="1400" b="1" i="0">
                <a:solidFill>
                  <a:srgbClr val="9AC7D3"/>
                </a:solidFill>
                <a:latin typeface="Consolas"/>
              </a:rPr>
              <a:t>NEXT — </a:t>
            </a:r>
            <a:r>
              <a:rPr sz="1600" b="0" i="1">
                <a:solidFill>
                  <a:srgbClr val="FFFFFF"/>
                </a:solidFill>
                <a:latin typeface="Calibri"/>
              </a:rPr>
              <a:t>The Burn-In — the deliberate stress-test of everything in these five pieces, what it found, and what surprised even the people running it.</a:t>
            </a:r>
          </a:p>
        </p:txBody>
      </p:sp>
      <p:sp>
        <p:nvSpPr>
          <p:cNvPr id="7" name="TextBox 6"/>
          <p:cNvSpPr txBox="1"/>
          <p:nvPr/>
        </p:nvSpPr>
        <p:spPr>
          <a:xfrm>
            <a:off x="640080" y="6473952"/>
            <a:ext cx="10881360" cy="292608"/>
          </a:xfrm>
          <a:prstGeom prst="rect">
            <a:avLst/>
          </a:prstGeom>
          <a:noFill/>
        </p:spPr>
        <p:txBody>
          <a:bodyPr wrap="square" anchor="t" lIns="0" rIns="0" tIns="0" bIns="0">
            <a:noAutofit/>
          </a:bodyPr>
          <a:lstStyle/>
          <a:p>
            <a:r>
              <a:rPr sz="1000" b="0" i="0">
                <a:solidFill>
                  <a:srgbClr val="6B7077"/>
                </a:solidFill>
                <a:latin typeface="Consolas"/>
              </a:rPr>
              <a:t>RATCHET · PART 5/6 · DRAFT, CHECK, SIGN OFF</a:t>
            </a:r>
          </a:p>
        </p:txBody>
      </p:sp>
      <p:sp>
        <p:nvSpPr>
          <p:cNvPr id="8" name="TextBox 7"/>
          <p:cNvSpPr txBox="1"/>
          <p:nvPr/>
        </p:nvSpPr>
        <p:spPr>
          <a:xfrm>
            <a:off x="10881360" y="6473952"/>
            <a:ext cx="640080" cy="292608"/>
          </a:xfrm>
          <a:prstGeom prst="rect">
            <a:avLst/>
          </a:prstGeom>
          <a:noFill/>
        </p:spPr>
        <p:txBody>
          <a:bodyPr wrap="square" anchor="t" lIns="0" rIns="0" tIns="0" bIns="0">
            <a:noAutofit/>
          </a:bodyPr>
          <a:lstStyle/>
          <a:p>
            <a:pPr algn="r"/>
            <a:r>
              <a:rPr sz="1000" b="0" i="0">
                <a:solidFill>
                  <a:srgbClr val="6B7077"/>
                </a:solidFill>
                <a:latin typeface="Consolas"/>
              </a:rPr>
              <a:t>17 /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