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ENGINEERING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Georgia"/>
              </a:rPr>
              <a:t>The Ratchet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Four nested diagrams, from a project's whole lifecycle down to one job 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Tracks docs/ratchet_state_machine.md at full precision — exact caps, function names, the complete escalation table. Source of truth is that file; this is a presentable view of the same facts, regenerated the same 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STATE MACHINE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diagrams, outermost to innermost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1. Project status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five values of projects.status.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2. Bootstrap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runs once per project, before any bead executes. Two entry points: a fresh project starts at SURVEY_SPEC; a cascade iteration starts at AUDIT_DECOMPOSITION against inherited beads.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3. Per-bead pipeline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loop every bead goes through. Most of the complexity lives here.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4. Generic job status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low-level handoff_jobs FSM every verb call goes through underneath diagrams 2 and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Project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projects.status CHECK IN ('active','full_stopped','complete','paused','fixture'). fixture and full_stopped/complete are terminal by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520440"/>
            <a:ext cx="210312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783080"/>
            <a:ext cx="210312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paused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2194560"/>
            <a:ext cx="251460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4709160"/>
            <a:ext cx="2514600" cy="73152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full_stopped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166360"/>
            <a:ext cx="2286000" cy="68580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fixture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3863339"/>
            <a:ext cx="19202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74320" y="3726179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726179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new-project / clone-project</a:t>
            </a:r>
          </a:p>
        </p:txBody>
      </p:sp>
      <p:cxnSp>
        <p:nvCxnSpPr>
          <p:cNvPr id="18" name="Connector 17"/>
          <p:cNvCxnSpPr>
            <a:stCxn id="10" idx="0"/>
            <a:endCxn id="11" idx="2"/>
          </p:cNvCxnSpPr>
          <p:nvPr/>
        </p:nvCxnSpPr>
        <p:spPr>
          <a:xfrm flipV="1" flipH="1">
            <a:off x="3337560" y="2423160"/>
            <a:ext cx="0" cy="109728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286000" y="283464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283464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pause knob ⇄ resume-project CLI</a:t>
            </a:r>
          </a:p>
        </p:txBody>
      </p:sp>
      <p:cxnSp>
        <p:nvCxnSpPr>
          <p:cNvPr id="21" name="Connector 20"/>
          <p:cNvCxnSpPr>
            <a:stCxn id="10" idx="1"/>
            <a:endCxn id="12" idx="3"/>
          </p:cNvCxnSpPr>
          <p:nvPr/>
        </p:nvCxnSpPr>
        <p:spPr>
          <a:xfrm flipV="1">
            <a:off x="2286000" y="2537460"/>
            <a:ext cx="8961120" cy="132588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757977" y="306324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57977" y="306324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last bead succeeds</a:t>
            </a:r>
          </a:p>
        </p:txBody>
      </p:sp>
      <p:cxnSp>
        <p:nvCxnSpPr>
          <p:cNvPr id="24" name="Connector 23"/>
          <p:cNvCxnSpPr>
            <a:stCxn id="10" idx="2"/>
            <a:endCxn id="13" idx="0"/>
          </p:cNvCxnSpPr>
          <p:nvPr/>
        </p:nvCxnSpPr>
        <p:spPr>
          <a:xfrm>
            <a:off x="3337560" y="4206240"/>
            <a:ext cx="6652260" cy="5029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860847" y="432054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0847" y="432054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recovery exhausted</a:t>
            </a:r>
          </a:p>
        </p:txBody>
      </p:sp>
      <p:cxnSp>
        <p:nvCxnSpPr>
          <p:cNvPr id="27" name="Connector 26"/>
          <p:cNvCxnSpPr>
            <a:stCxn id="10" idx="3"/>
            <a:endCxn id="14" idx="1"/>
          </p:cNvCxnSpPr>
          <p:nvPr/>
        </p:nvCxnSpPr>
        <p:spPr>
          <a:xfrm flipH="1">
            <a:off x="2286000" y="3863340"/>
            <a:ext cx="2103120" cy="16459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save-fixture CLI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PROJECT STATUS —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decides which bootstrap path a project takes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"last bead succeeds," precisely: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declare_success on the last remaining pending bead, OR a zero-diff cascade iteration (CASCADE_REVIEW finds nothing changed).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"recovery exhausted," precisely: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full_stop decision on any bead, 5 total CERTIFY_MANIFEST rejections, DECOMPOSE_SPEC bead-ordering violations past cap, or the full-stop-project CLI.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Provenance columns, not status.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lineage_root_id + iteration_number (every project belongs to a lineage); cascade_baseline_project_id — set only by clone-project --design-doc, and its presence is what routes bootstrap onto the cascade path.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fixture is terminal by design.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In-place renumbered to a negative id, never dispatched again. clone-project (from any status, including fixture) spawns a brand-new project row — a deep copy, not a transition of this row.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paused can also reach fixture directly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(save-fixture CLI) — the paused project's inert pending job moves with it. Omitted above for diagram clarity.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Bootstrap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Runs once, before bead 1. All transitions automatic except the branch points marked with a verb's decision field.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3291840"/>
            <a:ext cx="16002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SURVEY_SPEC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VERIFY_MANIFEST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CERTIFY_MANIFEST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3291840"/>
            <a:ext cx="16459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DECOMPOSE_SPEC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29184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AUDIT_DECOMPOSITION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291840"/>
            <a:ext cx="2148840" cy="7315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DECOMPOSITION_APPROVED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507492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1C1E22"/>
                </a:solidFill>
                <a:latin typeface="Consolas"/>
              </a:rPr>
              <a:t>RECONCILE_DECOMPOSITION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0040" y="2103120"/>
            <a:ext cx="800100" cy="11887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-120243" y="2560320"/>
            <a:ext cx="1680667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-120243" y="2560320"/>
            <a:ext cx="168066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new-project (fresh)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430768" y="1554480"/>
            <a:ext cx="164592" cy="173736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22769" y="228600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2769" y="228600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clone-project (cascade)</a:t>
            </a:r>
          </a:p>
        </p:txBody>
      </p:sp>
      <p:cxnSp>
        <p:nvCxnSpPr>
          <p:cNvPr id="23" name="Connector 22"/>
          <p:cNvCxnSpPr>
            <a:stCxn id="10" idx="1"/>
            <a:endCxn id="11" idx="3"/>
          </p:cNvCxnSpPr>
          <p:nvPr/>
        </p:nvCxnSpPr>
        <p:spPr>
          <a:xfrm flipV="1">
            <a:off x="320040" y="3657600"/>
            <a:ext cx="34290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1" idx="1"/>
            <a:endCxn id="12" idx="3"/>
          </p:cNvCxnSpPr>
          <p:nvPr/>
        </p:nvCxnSpPr>
        <p:spPr>
          <a:xfrm flipV="1">
            <a:off x="2057400" y="3657600"/>
            <a:ext cx="35204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2" idx="1"/>
            <a:endCxn id="13" idx="3"/>
          </p:cNvCxnSpPr>
          <p:nvPr/>
        </p:nvCxnSpPr>
        <p:spPr>
          <a:xfrm flipV="1">
            <a:off x="3886200" y="3657600"/>
            <a:ext cx="347472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255972" y="2971800"/>
            <a:ext cx="780897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5972" y="2971800"/>
            <a:ext cx="7808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</a:t>
            </a:r>
          </a:p>
        </p:txBody>
      </p:sp>
      <p:cxnSp>
        <p:nvCxnSpPr>
          <p:cNvPr id="28" name="Connector 27"/>
          <p:cNvCxnSpPr>
            <a:stCxn id="12" idx="0"/>
            <a:endCxn id="10" idx="0"/>
          </p:cNvCxnSpPr>
          <p:nvPr/>
        </p:nvCxnSpPr>
        <p:spPr>
          <a:xfrm flipH="1">
            <a:off x="1120140" y="3291840"/>
            <a:ext cx="36118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160728" y="2240280"/>
            <a:ext cx="1530705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60728" y="2240280"/>
            <a:ext cx="1530705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reject, count &lt; 5</a:t>
            </a:r>
          </a:p>
        </p:txBody>
      </p:sp>
      <p:cxnSp>
        <p:nvCxnSpPr>
          <p:cNvPr id="31" name="Connector 30"/>
          <p:cNvCxnSpPr>
            <a:stCxn id="13" idx="1"/>
            <a:endCxn id="14" idx="3"/>
          </p:cNvCxnSpPr>
          <p:nvPr/>
        </p:nvCxnSpPr>
        <p:spPr>
          <a:xfrm flipV="1">
            <a:off x="5715000" y="3657600"/>
            <a:ext cx="3657598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4" idx="1"/>
            <a:endCxn id="15" idx="3"/>
          </p:cNvCxnSpPr>
          <p:nvPr/>
        </p:nvCxnSpPr>
        <p:spPr>
          <a:xfrm flipV="1">
            <a:off x="7498079" y="3657600"/>
            <a:ext cx="4160521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no issues</a:t>
            </a:r>
          </a:p>
        </p:txBody>
      </p:sp>
      <p:cxnSp>
        <p:nvCxnSpPr>
          <p:cNvPr id="35" name="Connector 34"/>
          <p:cNvCxnSpPr>
            <a:stCxn id="14" idx="2"/>
            <a:endCxn id="16" idx="0"/>
          </p:cNvCxnSpPr>
          <p:nvPr/>
        </p:nvCxnSpPr>
        <p:spPr>
          <a:xfrm flipH="1">
            <a:off x="8435338" y="4023360"/>
            <a:ext cx="0" cy="105156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issues found</a:t>
            </a:r>
          </a:p>
        </p:txBody>
      </p:sp>
      <p:cxnSp>
        <p:nvCxnSpPr>
          <p:cNvPr id="38" name="Connector 37"/>
          <p:cNvCxnSpPr>
            <a:stCxn id="16" idx="3"/>
            <a:endCxn id="14" idx="3"/>
          </p:cNvCxnSpPr>
          <p:nvPr/>
        </p:nvCxnSpPr>
        <p:spPr>
          <a:xfrm flipV="1" flipH="1">
            <a:off x="9372598" y="3657600"/>
            <a:ext cx="0" cy="17830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446519" y="473202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19" y="473202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disagree, round &lt; cap (2)</a:t>
            </a:r>
          </a:p>
        </p:txBody>
      </p:sp>
      <p:cxnSp>
        <p:nvCxnSpPr>
          <p:cNvPr id="41" name="Connector 40"/>
          <p:cNvCxnSpPr>
            <a:stCxn id="16" idx="1"/>
            <a:endCxn id="15" idx="2"/>
          </p:cNvCxnSpPr>
          <p:nvPr/>
        </p:nvCxnSpPr>
        <p:spPr>
          <a:xfrm flipV="1">
            <a:off x="7498079" y="4023360"/>
            <a:ext cx="3086101" cy="14173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converged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BOOTSTRAP — THE TWO RETRY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Neither is a model judgment call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CERTIFY_MANIFEST reject loop.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Any reject re-enqueues SURVEY_SPEC with CERTIFY's feedback prepended. At reject count 5, project.status = full_stopped.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DECOMPOSE_SPEC ↔ AUDIT/RECONCILE loop (not drawn above, kept as escalation edges only).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mechanical structural check runs on the proposed decomposition: forward file-reference, bead-ordering, or a bead-list merge/drop against the design doc's own numbered list. DECOMPOSE_SPEC failing it re-enqueues with the violations in its prompt; at decomposeRedecomposeCap (3), full_stopped.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RECONCILE_DECOMPOSITION's own reject loop.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Failing the same structural check on its own proposed fix re-enqueues RECONCILE; at reconcileRejectCap (3), the job escalates.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DECOMPOSITION_APPROVED is not a verb — it's the shared checkpoint both the AUDIT-no_issues and RECONCILE-converged paths funnel through, before dispatching bead 1, pausing, or (cascade) entering CASCADE_REVIEW.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The per-bead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beads.status: pending -&gt; executing -&gt; succeeded/full_stopped. Everything below is the verb chain inside 'executing.'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3291840"/>
            <a:ext cx="13716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WRITE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3291840"/>
            <a:ext cx="13716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CRITIQUE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291840"/>
            <a:ext cx="12344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JUDGE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291840"/>
            <a:ext cx="13716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EXECUTE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91840"/>
            <a:ext cx="13716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ANALYZE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3291840"/>
            <a:ext cx="14630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COMPRESS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ADJUDICATE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5212080"/>
            <a:ext cx="1188720" cy="5029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5212080"/>
            <a:ext cx="1737360" cy="50292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full_stop</a:t>
            </a:r>
          </a:p>
        </p:txBody>
      </p:sp>
      <p:cxnSp>
        <p:nvCxnSpPr>
          <p:cNvPr id="19" name="Connector 18"/>
          <p:cNvCxnSpPr>
            <a:stCxn id="10" idx="1"/>
            <a:endCxn id="11" idx="3"/>
          </p:cNvCxnSpPr>
          <p:nvPr/>
        </p:nvCxnSpPr>
        <p:spPr>
          <a:xfrm flipV="1">
            <a:off x="320040" y="3657600"/>
            <a:ext cx="28803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3228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3228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compiles</a:t>
            </a:r>
          </a:p>
        </p:txBody>
      </p:sp>
      <p:cxnSp>
        <p:nvCxnSpPr>
          <p:cNvPr id="22" name="Connector 21"/>
          <p:cNvCxnSpPr>
            <a:stCxn id="11" idx="1"/>
            <a:endCxn id="12" idx="3"/>
          </p:cNvCxnSpPr>
          <p:nvPr/>
        </p:nvCxnSpPr>
        <p:spPr>
          <a:xfrm flipV="1">
            <a:off x="1828800" y="3657600"/>
            <a:ext cx="27432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2" idx="0"/>
            <a:endCxn id="10" idx="0"/>
          </p:cNvCxnSpPr>
          <p:nvPr/>
        </p:nvCxnSpPr>
        <p:spPr>
          <a:xfrm flipH="1">
            <a:off x="1005840" y="3291840"/>
            <a:ext cx="294894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714958" y="2240280"/>
            <a:ext cx="1530705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14958" y="2240280"/>
            <a:ext cx="1530705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revise, cycle ≤ 5</a:t>
            </a:r>
          </a:p>
        </p:txBody>
      </p: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 flipV="1">
            <a:off x="3337560" y="3657600"/>
            <a:ext cx="27432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21264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1264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9" name="Connector 28"/>
          <p:cNvCxnSpPr>
            <a:stCxn id="13" idx="1"/>
            <a:endCxn id="14" idx="3"/>
          </p:cNvCxnSpPr>
          <p:nvPr/>
        </p:nvCxnSpPr>
        <p:spPr>
          <a:xfrm flipV="1">
            <a:off x="4709160" y="3657600"/>
            <a:ext cx="28803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4" idx="1"/>
            <a:endCxn id="15" idx="3"/>
          </p:cNvCxnSpPr>
          <p:nvPr/>
        </p:nvCxnSpPr>
        <p:spPr>
          <a:xfrm flipV="1">
            <a:off x="6217920" y="3657600"/>
            <a:ext cx="2971799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5" idx="1"/>
            <a:endCxn id="16" idx="3"/>
          </p:cNvCxnSpPr>
          <p:nvPr/>
        </p:nvCxnSpPr>
        <p:spPr>
          <a:xfrm flipV="1">
            <a:off x="7726679" y="3657600"/>
            <a:ext cx="3291841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6" idx="0"/>
            <a:endCxn id="13" idx="0"/>
          </p:cNvCxnSpPr>
          <p:nvPr/>
        </p:nvCxnSpPr>
        <p:spPr>
          <a:xfrm flipH="1">
            <a:off x="5394960" y="3291840"/>
            <a:ext cx="477774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732270" y="224028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2270" y="224028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retry: as-is/revised/test_reject</a:t>
            </a:r>
          </a:p>
        </p:txBody>
      </p:sp>
      <p:cxnSp>
        <p:nvCxnSpPr>
          <p:cNvPr id="35" name="Connector 34"/>
          <p:cNvCxnSpPr>
            <a:stCxn id="16" idx="2"/>
            <a:endCxn id="12" idx="2"/>
          </p:cNvCxnSpPr>
          <p:nvPr/>
        </p:nvCxnSpPr>
        <p:spPr>
          <a:xfrm flipH="1" flipV="1">
            <a:off x="3954780" y="4023360"/>
            <a:ext cx="621792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35955" y="4800600"/>
            <a:ext cx="2055571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955" y="4800600"/>
            <a:ext cx="205557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re_refine — bypasses cap</a:t>
            </a:r>
          </a:p>
        </p:txBody>
      </p:sp>
      <p:cxnSp>
        <p:nvCxnSpPr>
          <p:cNvPr id="38" name="Connector 37"/>
          <p:cNvCxnSpPr>
            <a:stCxn id="16" idx="2"/>
            <a:endCxn id="17" idx="0"/>
          </p:cNvCxnSpPr>
          <p:nvPr/>
        </p:nvCxnSpPr>
        <p:spPr>
          <a:xfrm flipH="1">
            <a:off x="9464040" y="4023360"/>
            <a:ext cx="708660" cy="11887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766810" y="448056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6810" y="448056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declare_success, criteria pass</a:t>
            </a:r>
          </a:p>
        </p:txBody>
      </p:sp>
      <p:cxnSp>
        <p:nvCxnSpPr>
          <p:cNvPr id="41" name="Connector 40"/>
          <p:cNvCxnSpPr>
            <a:stCxn id="16" idx="1"/>
            <a:endCxn id="18" idx="0"/>
          </p:cNvCxnSpPr>
          <p:nvPr/>
        </p:nvCxnSpPr>
        <p:spPr>
          <a:xfrm>
            <a:off x="9326880" y="3657600"/>
            <a:ext cx="1783080" cy="1554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598811" y="429768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98811" y="429768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full_stop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ADJUDICATE'S DECISION MENU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Six outcomes, each mechanically gated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execute_as_is / execute_revised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— retry, under max_execution_attempts. A revised spec passes a source-side gate first (see next slide) or silently downgrades to execute_as_is.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test_reject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— test-first mode only (a bead that starts at EXECUTE_BEAD because it already has test files from elsewhere): deletes the test files, revises the spec, retries under the attempt cap.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re_refine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— REFINE_TESTS mode only: routes back to REFINE_TESTS_JUDGE, grants a fresh attempt budget, and deliberately bypasses the attempt cap — "the test was wrong" is accounted differently than "the model couldn't implement it."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declare_success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— gated: VerifyExitCriteriaIsolated re-runs the criteria command against a copy of the files. Failure retries EXECUTE under the cap.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full_stop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— terminal; the project's remaining pending beads cascade to full_stopped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MECHANICAL GATES ON ADJUDICATE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model's decision is not taken on trust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declare_success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runs VerifyExitCriteriaIsolated against a COPY of the files, not the live folder — an entrypoint bead's own "go build" criterion was littering the real tree with binaries as a side effect of merely checking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execute_revised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gets a source-side gate: an orphan -run name, a grep guard for a file the bead doesn't own, a symbol a sibling bead's on-disk scaffold already declares (cross_bead_symbols.go), or a newly-invented required test function (that one is re_refine's job). A violation downgrades to execute_as_is.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Every execute_revised commit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re-runs InjectDesignDocPins against the new full_text — a full rewrite is exactly the kind of edit that can silently drop a verbatim Decomposition-Notes pin block.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applyMechanicalBeadFixes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normalizes the revised spec (e.g. go test with no test file) the same way DECOMPOSE/RECONCILE do at decomposition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MECHANICAL STALL/TIMEOUT DETECTION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Timing is fixed, not budget-derived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execCheckpointInterval = 12m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soft checkpoint. execAbsoluteCeiling = 45m hard backstop. execution_budget is no longer read for timing at all — the column stays in the schema, inert; execute_revised still floors a stored value at the project default.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progressTracker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judges a turn "productive" only if a write_file call leaves an in-scope output file at a content hash it hasn't held before this attempt — a no-op rewrite or an A→B→A revert doesn't count.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Fast paths to stalled, well before the hard ceiling: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an empty-turn streak, three consecutive identical tool calls, two consecutive length-cap "thinking with no output" turns, or no forward progress since the last soft checkpoint (which first injects one graceful-finalize directive and grants one more turn).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If the hard ceiling fires with genuine progress still happening and no stall condition met, the cause is timeout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MECHANICAL STALL/TIMEOUT DETECTION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timeout and stalled get different treatment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00" b="1" i="0">
                <a:solidFill>
                  <a:srgbClr val="1C1E22"/>
                </a:solidFill>
                <a:latin typeface="Calibri"/>
              </a:rPr>
              <a:t>timeout is read as a SCOPE signal, </a:t>
            </a:r>
            <a:r>
              <a:rPr sz="1300" b="0" i="0">
                <a:solidFill>
                  <a:srgbClr val="1C1E22"/>
                </a:solidFill>
                <a:latin typeface="Calibri"/>
              </a:rPr>
              <a:t>not a speed problem. timeoutExecutionNote steers execute_revised toward narrowing the spec, never toward "try again with more room."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00" b="1" i="0">
                <a:solidFill>
                  <a:srgbClr val="1C1E22"/>
                </a:solidFill>
                <a:latin typeface="Calibri"/>
              </a:rPr>
              <a:t>Retired: the earlier budget-doubling behavior </a:t>
            </a:r>
            <a:r>
              <a:rPr sz="1300" b="0" i="0">
                <a:solidFill>
                  <a:srgbClr val="1C1E22"/>
                </a:solidFill>
                <a:latin typeface="Calibri"/>
              </a:rPr>
              <a:t>(900s → 1800s → 3600s → 7200s on repeated timeouts) — removed once checkpoint/ceiling stopped being budget-derived. A bigger window bought more thrashing, not more correctness.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00" b="1" i="0">
                <a:solidFill>
                  <a:srgbClr val="1C1E22"/>
                </a:solidFill>
                <a:latin typeface="Calibri"/>
              </a:rPr>
              <a:t>Two consecutive same-cause terminations escalate automatically: </a:t>
            </a:r>
            <a:r>
              <a:rPr sz="1300" b="0" i="0">
                <a:solidFill>
                  <a:srgbClr val="1C1E22"/>
                </a:solidFill>
                <a:latin typeface="Calibri"/>
              </a:rPr>
              <a:t>escalateOnRepeatedTimeout and escalateOnRepeatedStall mirror each other. re_refine is never chosen for either (the tests were never reached).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00" b="1" i="0">
                <a:solidFill>
                  <a:srgbClr val="1C1E22"/>
                </a:solidFill>
                <a:latin typeface="Calibri"/>
              </a:rPr>
              <a:t>A repeated-stall escalation is tagged "EXECUTE-ceiling" </a:t>
            </a:r>
            <a:r>
              <a:rPr sz="1300" b="0" i="0">
                <a:solidFill>
                  <a:srgbClr val="1C1E22"/>
                </a:solidFill>
                <a:latin typeface="Calibri"/>
              </a:rPr>
              <a:t>in its report when ADJUDICATE had already tried two execute_revised rewrites first — the bead likely needs a doc-side split, not another revision. Tag only; no control-flow change.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00" b="1" i="0">
                <a:solidFill>
                  <a:srgbClr val="1C1E22"/>
                </a:solidFill>
                <a:latin typeface="Calibri"/>
              </a:rPr>
              <a:t>monitor_terminated / monitor_force_killed sit outside all of this — </a:t>
            </a:r>
            <a:r>
              <a:rPr sz="1300" b="0" i="0">
                <a:solidFill>
                  <a:srgbClr val="1C1E22"/>
                </a:solidFill>
                <a:latin typeface="Calibri"/>
              </a:rPr>
              <a:t>MONITOR_EXECUTION killing the process externally isn't a timing decision EXECUTE_BEAD made about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Generic job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handoff_jobs.status, underneath every verb above except EXECUTE_BEAD (its own supervised loop, drawn in Diagram 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28016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running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291840"/>
            <a:ext cx="201168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600200"/>
            <a:ext cx="182880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B9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failed_retry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120640"/>
            <a:ext cx="201168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escalated</a:t>
            </a:r>
          </a:p>
        </p:txBody>
      </p:sp>
      <p:cxnSp>
        <p:nvCxnSpPr>
          <p:cNvPr id="15" name="Connector 14"/>
          <p:cNvCxnSpPr>
            <a:stCxn id="10" idx="1"/>
            <a:endCxn id="11" idx="3"/>
          </p:cNvCxnSpPr>
          <p:nvPr/>
        </p:nvCxnSpPr>
        <p:spPr>
          <a:xfrm flipV="1">
            <a:off x="1280160" y="3634740"/>
            <a:ext cx="52120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70886" y="2948940"/>
            <a:ext cx="183062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0886" y="2948940"/>
            <a:ext cx="18306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claimNextJob (atomic)</a:t>
            </a:r>
          </a:p>
        </p:txBody>
      </p: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4663440" y="3634740"/>
            <a:ext cx="53949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504128" y="2948940"/>
            <a:ext cx="1530705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4128" y="2948940"/>
            <a:ext cx="1530705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Validate succeeds</a:t>
            </a:r>
          </a:p>
        </p:txBody>
      </p:sp>
      <p:cxnSp>
        <p:nvCxnSpPr>
          <p:cNvPr id="21" name="Connector 20"/>
          <p:cNvCxnSpPr>
            <a:stCxn id="11" idx="0"/>
            <a:endCxn id="13" idx="2"/>
          </p:cNvCxnSpPr>
          <p:nvPr/>
        </p:nvCxnSpPr>
        <p:spPr>
          <a:xfrm flipV="1" flipH="1">
            <a:off x="5577840" y="2240280"/>
            <a:ext cx="0" cy="105156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526280" y="262890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62890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Validate fails, strikes ≤ 2</a:t>
            </a:r>
          </a:p>
        </p:txBody>
      </p:sp>
      <p:cxnSp>
        <p:nvCxnSpPr>
          <p:cNvPr id="24" name="Connector 23"/>
          <p:cNvCxnSpPr>
            <a:stCxn id="13" idx="2"/>
            <a:endCxn id="11" idx="0"/>
          </p:cNvCxnSpPr>
          <p:nvPr/>
        </p:nvCxnSpPr>
        <p:spPr>
          <a:xfrm flipH="1">
            <a:off x="5577840" y="2240280"/>
            <a:ext cx="0" cy="105156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75451" y="262890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5451" y="262890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reclaimed</a:t>
            </a:r>
          </a:p>
        </p:txBody>
      </p:sp>
      <p:cxnSp>
        <p:nvCxnSpPr>
          <p:cNvPr id="27" name="Connector 26"/>
          <p:cNvCxnSpPr>
            <a:stCxn id="11" idx="2"/>
            <a:endCxn id="14" idx="0"/>
          </p:cNvCxnSpPr>
          <p:nvPr/>
        </p:nvCxnSpPr>
        <p:spPr>
          <a:xfrm>
            <a:off x="5577840" y="3977640"/>
            <a:ext cx="3474720" cy="114300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7338" y="44119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7338" y="44119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0" i="1">
                <a:solidFill>
                  <a:srgbClr val="5F636B"/>
                </a:solidFill>
                <a:latin typeface="Calibri"/>
              </a:rPr>
              <a:t>strikes exceeded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ESCALATION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Every way a job reaches escalated, or a project full_stopped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83080"/>
          <a:ext cx="1088135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607"/>
                <a:gridCol w="2571957"/>
                <a:gridCol w="5143915"/>
                <a:gridCol w="2670879"/>
              </a:tblGrid>
              <a:tr h="32355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onsolas"/>
                        </a:rPr>
                        <a:t>#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onsolas"/>
                        </a:rPr>
                        <a:t>Where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onsolas"/>
                        </a:rPr>
                        <a:t>Trigger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onsolas"/>
                        </a:rPr>
                        <a:t>Result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RECONCILE_DECOMPOSITION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audit/reconcile round cap hit, unresolved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CERTIFY_MANIFEST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5 total rejections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project full_stopped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REFINE_TESTS_WRITE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test won't compile after retries, or a required test fn is never written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REFINE_TESTS_JUDGE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revise requested past refinementCycleCap (5)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EXECUTE_BEAD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infraFailureCap (3) consecutive startup crashes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execute_as_is/revised/test_reject/declare_success gate fail, at max_execution_attempts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re_refine past refinementCycleCap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2 consecutive stalled terminations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 (tagged EXECUTE-ceiling if ≥2 prior execute_revised)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2 consecutive timeout terminations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any verb (generic)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strikes exceed flat tolerance of 2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DECOMPOSE_SPEC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ordering/reference/merge-drop violation past redecomposeCap (3)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project full_stopped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1E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RECONCILE_DECOMPOSITION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own fix reintroduces a violation past reconcileRejectCap (3)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1E22"/>
                          </a:solidFill>
                          <a:latin typeface="Calibri"/>
                        </a:rPr>
                        <a:t>job escalated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CASCADE ITERATIONS (LOOP-MODE)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clone-project --design-doc &lt;new.md&gt;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51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Creates a new project in the same lineage, inheriting the baseline's beads, bead_revisions, and full execution/adjudication history — then overwrites the design doc and sets cascade_baseline_project_id.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One fresh AUDIT_DECOMPOSITION is enqueued. SURVEY_SPEC and DECOMPOSE_SPEC never run — the inherited beads ARE the decomposition. RECONCILE may not rename, add, or remove beads, so titles stay stable across the clone boundary.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Every changed bead —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spec differs from baseline, by title, deliberately liberal comparison — gets reset by resetBeadForRerun, even if already succeeded: active jobs cancelled, test files deleted, impl reset to stubs, pre-reset files snapshotted first.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Unchanged beads are left exactly as cloned — status, files, history untouched.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≥1 changed bead: lowest-id changed bead's execution is enqueued. Zero changed: project marked complete directly, no pause, nothing to resume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RECOVERY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800" b="1" i="0">
                <a:solidFill>
                  <a:srgbClr val="1C1E22"/>
                </a:solidFill>
                <a:latin typeface="Georgia"/>
              </a:rPr>
              <a:t>Four ways a human intervenes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3D6D7E"/>
                </a:solidFill>
                <a:latin typeface="Consolas"/>
              </a:rPr>
              <a:t>PER-BEAD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212080" cy="37490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rewind-bead —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sanctioned path for any per-bead escalation. Resets to REFINE_TESTS_WRITE cycle 1, stubs impl files, fresh attempt budget. Always discards whatever implementation exists on disk. Refuses a succeeded bead.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Requeue (UI) —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try the exact same job again. Useful for transient failures, not a spec problem.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659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3D6D7E"/>
                </a:solidFill>
                <a:latin typeface="Consolas"/>
              </a:rPr>
              <a:t>PROJECT-LEVEL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23160"/>
            <a:ext cx="5212080" cy="37490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resume-project —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pure status flip; only ever re-dispatches bead 1, or for a cascade project, re-enters at DECOMPOSITION_APPROVED.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full-stop-project —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manual equivalent of a project-wide escalation.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Never: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hand-editing the database, or patching a test to force it green — convention, not code, but held.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1965960"/>
            <a:ext cx="0" cy="425196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STATE MACHINE REFERENCE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Consolas"/>
              </a:rPr>
              <a:t>docs/ratchet_state_machine.md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C9CDD2"/>
                </a:solidFill>
                <a:latin typeface="Calibri"/>
              </a:rPr>
              <a:t>This deck is a presentable view of that file, not a replacement for it — regenerated the same way its four PNGs are: scripts/build-state-machine-pdf.sh renders the Mermaid source via mermaid-cli; this deck is built straight from the same facts via scripts/build-state-machine-pptx.py. When the .md changes, re-run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STATE MACHINE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