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4884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9AC7D3"/>
                </a:solidFill>
                <a:latin typeface="Consolas"/>
              </a:rPr>
              <a:t>RATCHET · ENGINEERING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06040"/>
            <a:ext cx="10515600" cy="1051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4800" b="1" i="0">
                <a:solidFill>
                  <a:srgbClr val="FFFFFF"/>
                </a:solidFill>
                <a:latin typeface="Georgia"/>
              </a:rPr>
              <a:t>The Ratchet State Machine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794760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200" b="0" i="1">
                <a:solidFill>
                  <a:srgbClr val="C9CDD2"/>
                </a:solidFill>
                <a:latin typeface="Calibri"/>
              </a:rPr>
              <a:t>Four nested diagrams, from a project's whole lifecycle down to one job row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709160"/>
            <a:ext cx="896112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 b="0" i="0">
                <a:solidFill>
                  <a:srgbClr val="9A9FA6"/>
                </a:solidFill>
                <a:latin typeface="Calibri"/>
              </a:rPr>
              <a:t>Tracks docs/ratchet_state_machine.md at full precision — exact caps, function names, the complete escalation table. Source of truth is that file; this is a presentable view of the same facts, regenerated the same way.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000" b="0" i="0">
                <a:solidFill>
                  <a:srgbClr val="6B7077"/>
                </a:solidFill>
                <a:latin typeface="Consolas"/>
              </a:rPr>
              <a:t>RATCHET · STATE MACHINE REFERENCE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6B7077"/>
                </a:solidFill>
                <a:latin typeface="Consolas"/>
              </a:rPr>
              <a:t>01 / 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C1E22"/>
                </a:solidFill>
                <a:latin typeface="Georgia"/>
              </a:rPr>
              <a:t>Four diagrams, outermost to innermost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965960"/>
            <a:ext cx="10881360" cy="4206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700" b="1" i="0">
                <a:solidFill>
                  <a:srgbClr val="1C1E22"/>
                </a:solidFill>
                <a:latin typeface="Calibri"/>
              </a:rPr>
              <a:t>1. Project status — </a:t>
            </a:r>
            <a:r>
              <a:rPr sz="1700" b="0" i="0">
                <a:solidFill>
                  <a:srgbClr val="1C1E22"/>
                </a:solidFill>
                <a:latin typeface="Calibri"/>
              </a:rPr>
              <a:t>the five values of projects.status.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700" b="1" i="0">
                <a:solidFill>
                  <a:srgbClr val="1C1E22"/>
                </a:solidFill>
                <a:latin typeface="Calibri"/>
              </a:rPr>
              <a:t>2. Bootstrap — </a:t>
            </a:r>
            <a:r>
              <a:rPr sz="1700" b="0" i="0">
                <a:solidFill>
                  <a:srgbClr val="1C1E22"/>
                </a:solidFill>
                <a:latin typeface="Calibri"/>
              </a:rPr>
              <a:t>runs once per project, before any bead executes. Two entry points: a fresh project starts at SURVEY_SPEC; a cascade iteration starts at AUDIT_DECOMPOSITION against inherited beads.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700" b="1" i="0">
                <a:solidFill>
                  <a:srgbClr val="1C1E22"/>
                </a:solidFill>
                <a:latin typeface="Calibri"/>
              </a:rPr>
              <a:t>3. Per-bead pipeline — </a:t>
            </a:r>
            <a:r>
              <a:rPr sz="1700" b="0" i="0">
                <a:solidFill>
                  <a:srgbClr val="1C1E22"/>
                </a:solidFill>
                <a:latin typeface="Calibri"/>
              </a:rPr>
              <a:t>the loop every bead goes through. Most of the complexity lives here.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700" b="1" i="0">
                <a:solidFill>
                  <a:srgbClr val="1C1E22"/>
                </a:solidFill>
                <a:latin typeface="Calibri"/>
              </a:rPr>
              <a:t>4. Generic job status — </a:t>
            </a:r>
            <a:r>
              <a:rPr sz="1700" b="0" i="0">
                <a:solidFill>
                  <a:srgbClr val="1C1E22"/>
                </a:solidFill>
                <a:latin typeface="Calibri"/>
              </a:rPr>
              <a:t>the low-level handoff_jobs FSM every verb call goes through underneath diagrams 2 and 3.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STATE MACHINE REFERENCE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02 / 17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DIAGRAM 1 OF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2600" b="1" i="0">
                <a:solidFill>
                  <a:srgbClr val="1C1E22"/>
                </a:solidFill>
                <a:latin typeface="Georgia"/>
              </a:rPr>
              <a:t>Project status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05332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200" b="0" i="1">
                <a:solidFill>
                  <a:srgbClr val="5F636B"/>
                </a:solidFill>
                <a:latin typeface="Calibri"/>
              </a:rPr>
              <a:t>projects.status CHECK IN ('active','full_stopped','complete','paused','fixture'). fixture and full_stopped/complete are terminal by design.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STATE MACHINE REFERENCE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03 / 17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286000" y="3520440"/>
            <a:ext cx="2103120" cy="685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D6D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>
            <a:noAutofit/>
          </a:bodyPr>
          <a:lstStyle/>
          <a:p>
            <a:pPr algn="ctr">
              <a:lnSpc>
                <a:spcPct val="95000"/>
              </a:lnSpc>
            </a:pPr>
            <a:r>
              <a:rPr sz="1050" b="1" i="0">
                <a:solidFill>
                  <a:srgbClr val="1C1E22"/>
                </a:solidFill>
                <a:latin typeface="Consolas"/>
              </a:rPr>
              <a:t>active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0" y="1783080"/>
            <a:ext cx="2103120" cy="640080"/>
          </a:xfrm>
          <a:prstGeom prst="roundRect">
            <a:avLst/>
          </a:prstGeom>
          <a:solidFill>
            <a:srgbClr val="F1EFEA"/>
          </a:solidFill>
          <a:ln w="15875">
            <a:solidFill>
              <a:srgbClr val="5F63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>
            <a:noAutofit/>
          </a:bodyPr>
          <a:lstStyle/>
          <a:p>
            <a:pPr algn="ctr">
              <a:lnSpc>
                <a:spcPct val="95000"/>
              </a:lnSpc>
            </a:pPr>
            <a:r>
              <a:rPr sz="1050" b="1" i="0">
                <a:solidFill>
                  <a:srgbClr val="1C1E22"/>
                </a:solidFill>
                <a:latin typeface="Consolas"/>
              </a:rPr>
              <a:t>paused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32520" y="2194560"/>
            <a:ext cx="2514600" cy="685800"/>
          </a:xfrm>
          <a:prstGeom prst="roundRect">
            <a:avLst/>
          </a:prstGeom>
          <a:solidFill>
            <a:srgbClr val="E7EFE1"/>
          </a:solidFill>
          <a:ln w="15875">
            <a:solidFill>
              <a:srgbClr val="4F7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>
            <a:noAutofit/>
          </a:bodyPr>
          <a:lstStyle/>
          <a:p>
            <a:pPr algn="ctr">
              <a:lnSpc>
                <a:spcPct val="95000"/>
              </a:lnSpc>
            </a:pPr>
            <a:r>
              <a:rPr sz="1050" b="1" i="0">
                <a:solidFill>
                  <a:srgbClr val="1C1E22"/>
                </a:solidFill>
                <a:latin typeface="Consolas"/>
              </a:rPr>
              <a:t>complete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32520" y="4709160"/>
            <a:ext cx="2514600" cy="731520"/>
          </a:xfrm>
          <a:prstGeom prst="roundRect">
            <a:avLst/>
          </a:prstGeom>
          <a:solidFill>
            <a:srgbClr val="F2E0DC"/>
          </a:solidFill>
          <a:ln w="15875">
            <a:solidFill>
              <a:srgbClr val="A8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>
            <a:noAutofit/>
          </a:bodyPr>
          <a:lstStyle/>
          <a:p>
            <a:pPr algn="ctr">
              <a:lnSpc>
                <a:spcPct val="95000"/>
              </a:lnSpc>
            </a:pPr>
            <a:r>
              <a:rPr sz="1000" b="1" i="0">
                <a:solidFill>
                  <a:srgbClr val="1C1E22"/>
                </a:solidFill>
                <a:latin typeface="Consolas"/>
              </a:rPr>
              <a:t>full_stopped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86000" y="5166360"/>
            <a:ext cx="2286000" cy="685800"/>
          </a:xfrm>
          <a:prstGeom prst="roundRect">
            <a:avLst/>
          </a:prstGeom>
          <a:solidFill>
            <a:srgbClr val="F1EFEA"/>
          </a:solidFill>
          <a:ln w="15875">
            <a:solidFill>
              <a:srgbClr val="5F63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>
            <a:noAutofit/>
          </a:bodyPr>
          <a:lstStyle/>
          <a:p>
            <a:pPr algn="ctr">
              <a:lnSpc>
                <a:spcPct val="95000"/>
              </a:lnSpc>
            </a:pPr>
            <a:r>
              <a:rPr sz="1050" b="1" i="0">
                <a:solidFill>
                  <a:srgbClr val="1C1E22"/>
                </a:solidFill>
                <a:latin typeface="Consolas"/>
              </a:rPr>
              <a:t>fixture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65760" y="3863339"/>
            <a:ext cx="1920240" cy="0"/>
          </a:xfrm>
          <a:prstGeom prst="line">
            <a:avLst/>
          </a:prstGeom>
          <a:ln w="15875">
            <a:solidFill>
              <a:srgbClr val="5F636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74320" y="3726179"/>
            <a:ext cx="2103120" cy="27432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3726179"/>
            <a:ext cx="21031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00" b="0" i="1">
                <a:solidFill>
                  <a:srgbClr val="5F636B"/>
                </a:solidFill>
                <a:latin typeface="Calibri"/>
              </a:rPr>
              <a:t>new-project / clone-project</a:t>
            </a:r>
          </a:p>
        </p:txBody>
      </p:sp>
      <p:cxnSp>
        <p:nvCxnSpPr>
          <p:cNvPr id="18" name="Connector 17"/>
          <p:cNvCxnSpPr>
            <a:stCxn id="10" idx="0"/>
            <a:endCxn id="11" idx="2"/>
          </p:cNvCxnSpPr>
          <p:nvPr/>
        </p:nvCxnSpPr>
        <p:spPr>
          <a:xfrm flipV="1" flipH="1">
            <a:off x="3337560" y="2423160"/>
            <a:ext cx="0" cy="1097280"/>
          </a:xfrm>
          <a:prstGeom prst="line">
            <a:avLst/>
          </a:prstGeom>
          <a:ln w="15875">
            <a:solidFill>
              <a:srgbClr val="5F636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2286000" y="2834640"/>
            <a:ext cx="2103120" cy="27432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86000" y="2834640"/>
            <a:ext cx="21031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00" b="0" i="1">
                <a:solidFill>
                  <a:srgbClr val="5F636B"/>
                </a:solidFill>
                <a:latin typeface="Calibri"/>
              </a:rPr>
              <a:t>pause knob ⇄ resume-project CLI</a:t>
            </a:r>
          </a:p>
        </p:txBody>
      </p:sp>
      <p:cxnSp>
        <p:nvCxnSpPr>
          <p:cNvPr id="21" name="Connector 20"/>
          <p:cNvCxnSpPr>
            <a:stCxn id="10" idx="1"/>
            <a:endCxn id="12" idx="3"/>
          </p:cNvCxnSpPr>
          <p:nvPr/>
        </p:nvCxnSpPr>
        <p:spPr>
          <a:xfrm flipV="1">
            <a:off x="2286000" y="2537460"/>
            <a:ext cx="8961120" cy="1325880"/>
          </a:xfrm>
          <a:prstGeom prst="line">
            <a:avLst/>
          </a:prstGeom>
          <a:ln w="15875">
            <a:solidFill>
              <a:srgbClr val="5F636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757977" y="3063240"/>
            <a:ext cx="1605686" cy="27432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57977" y="3063240"/>
            <a:ext cx="1605686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00" b="0" i="1">
                <a:solidFill>
                  <a:srgbClr val="5F636B"/>
                </a:solidFill>
                <a:latin typeface="Calibri"/>
              </a:rPr>
              <a:t>last bead succeeds</a:t>
            </a:r>
          </a:p>
        </p:txBody>
      </p:sp>
      <p:cxnSp>
        <p:nvCxnSpPr>
          <p:cNvPr id="24" name="Connector 23"/>
          <p:cNvCxnSpPr>
            <a:stCxn id="10" idx="2"/>
            <a:endCxn id="13" idx="0"/>
          </p:cNvCxnSpPr>
          <p:nvPr/>
        </p:nvCxnSpPr>
        <p:spPr>
          <a:xfrm>
            <a:off x="3337560" y="4206240"/>
            <a:ext cx="6652260" cy="502920"/>
          </a:xfrm>
          <a:prstGeom prst="bentConnector3">
            <a:avLst/>
          </a:prstGeom>
          <a:ln w="15875">
            <a:solidFill>
              <a:srgbClr val="5F636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5860847" y="4320540"/>
            <a:ext cx="1605686" cy="27432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60847" y="4320540"/>
            <a:ext cx="1605686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00" b="0" i="1">
                <a:solidFill>
                  <a:srgbClr val="5F636B"/>
                </a:solidFill>
                <a:latin typeface="Calibri"/>
              </a:rPr>
              <a:t>recovery exhausted</a:t>
            </a:r>
          </a:p>
        </p:txBody>
      </p:sp>
      <p:cxnSp>
        <p:nvCxnSpPr>
          <p:cNvPr id="27" name="Connector 26"/>
          <p:cNvCxnSpPr>
            <a:stCxn id="10" idx="3"/>
            <a:endCxn id="14" idx="1"/>
          </p:cNvCxnSpPr>
          <p:nvPr/>
        </p:nvCxnSpPr>
        <p:spPr>
          <a:xfrm flipH="1">
            <a:off x="2286000" y="3863340"/>
            <a:ext cx="2103120" cy="1645920"/>
          </a:xfrm>
          <a:prstGeom prst="line">
            <a:avLst/>
          </a:prstGeom>
          <a:ln w="15875">
            <a:solidFill>
              <a:srgbClr val="5F636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2701138" y="4549140"/>
            <a:ext cx="1455724" cy="27432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1138" y="4549140"/>
            <a:ext cx="1455724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00" b="0" i="1">
                <a:solidFill>
                  <a:srgbClr val="5F636B"/>
                </a:solidFill>
                <a:latin typeface="Calibri"/>
              </a:rPr>
              <a:t>save-fixture CLI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PROJECT STATUS — NOTES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C1E22"/>
                </a:solidFill>
                <a:latin typeface="Georgia"/>
              </a:rPr>
              <a:t>What decides which bootstrap path a project takes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92024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600" b="1" i="0">
                <a:solidFill>
                  <a:srgbClr val="1C1E22"/>
                </a:solidFill>
                <a:latin typeface="Calibri"/>
              </a:rPr>
              <a:t>"last bead succeeds," precisely: </a:t>
            </a:r>
            <a:r>
              <a:rPr sz="1600" b="0" i="0">
                <a:solidFill>
                  <a:srgbClr val="1C1E22"/>
                </a:solidFill>
                <a:latin typeface="Calibri"/>
              </a:rPr>
              <a:t>declare_success on the last remaining pending bead, OR a zero-diff cascade iteration (CASCADE_REVIEW finds nothing changed).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600" b="1" i="0">
                <a:solidFill>
                  <a:srgbClr val="1C1E22"/>
                </a:solidFill>
                <a:latin typeface="Calibri"/>
              </a:rPr>
              <a:t>"recovery exhausted," precisely: </a:t>
            </a:r>
            <a:r>
              <a:rPr sz="1600" b="0" i="0">
                <a:solidFill>
                  <a:srgbClr val="1C1E22"/>
                </a:solidFill>
                <a:latin typeface="Calibri"/>
              </a:rPr>
              <a:t>a full_stop decision on any bead, 5 total CERTIFY_MANIFEST rejections, DECOMPOSE_SPEC bead-ordering violations past cap, or the full-stop-project CLI.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600" b="1" i="0">
                <a:solidFill>
                  <a:srgbClr val="1C1E22"/>
                </a:solidFill>
                <a:latin typeface="Calibri"/>
              </a:rPr>
              <a:t>Provenance columns, not status. </a:t>
            </a:r>
            <a:r>
              <a:rPr sz="1600" b="0" i="0">
                <a:solidFill>
                  <a:srgbClr val="1C1E22"/>
                </a:solidFill>
                <a:latin typeface="Calibri"/>
              </a:rPr>
              <a:t>lineage_root_id + iteration_number (every project belongs to a lineage); cascade_baseline_project_id — set only by clone-project --design-doc, and its presence is what routes bootstrap onto the cascade path.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600" b="1" i="0">
                <a:solidFill>
                  <a:srgbClr val="1C1E22"/>
                </a:solidFill>
                <a:latin typeface="Calibri"/>
              </a:rPr>
              <a:t>fixture is terminal by design. </a:t>
            </a:r>
            <a:r>
              <a:rPr sz="1600" b="0" i="0">
                <a:solidFill>
                  <a:srgbClr val="1C1E22"/>
                </a:solidFill>
                <a:latin typeface="Calibri"/>
              </a:rPr>
              <a:t>In-place renumbered to a negative id, never dispatched again. clone-project (from any status, including fixture) spawns a brand-new project row — a deep copy, not a transition of this row.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600" b="1" i="0">
                <a:solidFill>
                  <a:srgbClr val="1C1E22"/>
                </a:solidFill>
                <a:latin typeface="Calibri"/>
              </a:rPr>
              <a:t>"pause knob" is one of three triggers: </a:t>
            </a:r>
            <a:r>
              <a:rPr sz="1600" b="0" i="0">
                <a:solidFill>
                  <a:srgbClr val="1C1E22"/>
                </a:solidFill>
                <a:latin typeface="Calibri"/>
              </a:rPr>
              <a:t>pause_after_reconcile, pause_after_verb, or pause_after_bead_id (see docs/fixtures.md). paused can also reach fixture directly via save-fixture CLI — both omitted above for clarity.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STATE MACHINE REFERENCE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04 / 17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DIAGRAM 2 OF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2600" b="1" i="0">
                <a:solidFill>
                  <a:srgbClr val="1C1E22"/>
                </a:solidFill>
                <a:latin typeface="Georgia"/>
              </a:rPr>
              <a:t>Bootstrap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05332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200" b="0" i="1">
                <a:solidFill>
                  <a:srgbClr val="5F636B"/>
                </a:solidFill>
                <a:latin typeface="Calibri"/>
              </a:rPr>
              <a:t>Runs once, before bead 1. All transitions automatic except the branch points marked with a verb's decision field.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STATE MACHINE REFERENCE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05 / 17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20040" y="3291840"/>
            <a:ext cx="1600200" cy="731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D6D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>
            <a:noAutofit/>
          </a:bodyPr>
          <a:lstStyle/>
          <a:p>
            <a:pPr algn="ctr">
              <a:lnSpc>
                <a:spcPct val="95000"/>
              </a:lnSpc>
            </a:pPr>
            <a:r>
              <a:rPr sz="1000" b="1" i="0">
                <a:solidFill>
                  <a:srgbClr val="1C1E22"/>
                </a:solidFill>
                <a:latin typeface="Consolas"/>
              </a:rPr>
              <a:t>SURVEY_SPEC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57400" y="3291840"/>
            <a:ext cx="1691640" cy="731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D6D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>
            <a:noAutofit/>
          </a:bodyPr>
          <a:lstStyle/>
          <a:p>
            <a:pPr algn="ctr">
              <a:lnSpc>
                <a:spcPct val="95000"/>
              </a:lnSpc>
            </a:pPr>
            <a:r>
              <a:rPr sz="1000" b="1" i="0">
                <a:solidFill>
                  <a:srgbClr val="1C1E22"/>
                </a:solidFill>
                <a:latin typeface="Consolas"/>
              </a:rPr>
              <a:t>VERIFY_MANIFEST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86200" y="3291840"/>
            <a:ext cx="1691640" cy="731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D6D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>
            <a:noAutofit/>
          </a:bodyPr>
          <a:lstStyle/>
          <a:p>
            <a:pPr algn="ctr">
              <a:lnSpc>
                <a:spcPct val="95000"/>
              </a:lnSpc>
            </a:pPr>
            <a:r>
              <a:rPr sz="1000" b="1" i="0">
                <a:solidFill>
                  <a:srgbClr val="1C1E22"/>
                </a:solidFill>
                <a:latin typeface="Consolas"/>
              </a:rPr>
              <a:t>CERTIFY_MANIFEST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15000" y="3291840"/>
            <a:ext cx="1645920" cy="731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D6D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>
            <a:noAutofit/>
          </a:bodyPr>
          <a:lstStyle/>
          <a:p>
            <a:pPr algn="ctr">
              <a:lnSpc>
                <a:spcPct val="95000"/>
              </a:lnSpc>
            </a:pPr>
            <a:r>
              <a:rPr sz="1000" b="1" i="0">
                <a:solidFill>
                  <a:srgbClr val="1C1E22"/>
                </a:solidFill>
                <a:latin typeface="Consolas"/>
              </a:rPr>
              <a:t>DECOMPOSE_SPEC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3291840"/>
            <a:ext cx="1874519" cy="731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D6D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>
            <a:noAutofit/>
          </a:bodyPr>
          <a:lstStyle/>
          <a:p>
            <a:pPr algn="ctr">
              <a:lnSpc>
                <a:spcPct val="95000"/>
              </a:lnSpc>
            </a:pPr>
            <a:r>
              <a:rPr sz="950" b="1" i="0">
                <a:solidFill>
                  <a:srgbClr val="1C1E22"/>
                </a:solidFill>
                <a:latin typeface="Consolas"/>
              </a:rPr>
              <a:t>AUDIT_DECOMPOSITION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9760" y="3291840"/>
            <a:ext cx="2148840" cy="731520"/>
          </a:xfrm>
          <a:prstGeom prst="roundRect">
            <a:avLst/>
          </a:prstGeom>
          <a:solidFill>
            <a:srgbClr val="E7EFE1"/>
          </a:solidFill>
          <a:ln w="15875">
            <a:solidFill>
              <a:srgbClr val="4F7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>
            <a:noAutofit/>
          </a:bodyPr>
          <a:lstStyle/>
          <a:p>
            <a:pPr algn="ctr">
              <a:lnSpc>
                <a:spcPct val="95000"/>
              </a:lnSpc>
            </a:pPr>
            <a:r>
              <a:rPr sz="900" b="1" i="0">
                <a:solidFill>
                  <a:srgbClr val="1C1E22"/>
                </a:solidFill>
                <a:latin typeface="Consolas"/>
              </a:rPr>
              <a:t>DECOMPOSITION_APPROVED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5074920"/>
            <a:ext cx="1874519" cy="731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D6D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>
            <a:noAutofit/>
          </a:bodyPr>
          <a:lstStyle/>
          <a:p>
            <a:pPr algn="ctr">
              <a:lnSpc>
                <a:spcPct val="95000"/>
              </a:lnSpc>
            </a:pPr>
            <a:r>
              <a:rPr sz="850" b="1" i="0">
                <a:solidFill>
                  <a:srgbClr val="1C1E22"/>
                </a:solidFill>
                <a:latin typeface="Consolas"/>
              </a:rPr>
              <a:t>RECONCILE_DECOMPOSITION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20040" y="2103120"/>
            <a:ext cx="800100" cy="1188720"/>
          </a:xfrm>
          <a:prstGeom prst="line">
            <a:avLst/>
          </a:prstGeom>
          <a:ln w="15875">
            <a:solidFill>
              <a:srgbClr val="5F636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-120243" y="2560320"/>
            <a:ext cx="1680667" cy="27432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-120243" y="2560320"/>
            <a:ext cx="1680667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0" i="1">
                <a:solidFill>
                  <a:srgbClr val="5F636B"/>
                </a:solidFill>
                <a:latin typeface="Calibri"/>
              </a:rPr>
              <a:t>new-project (fresh)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8430768" y="1554480"/>
            <a:ext cx="164592" cy="1737360"/>
          </a:xfrm>
          <a:prstGeom prst="line">
            <a:avLst/>
          </a:prstGeom>
          <a:ln w="15875">
            <a:solidFill>
              <a:srgbClr val="5F636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7522769" y="2286000"/>
            <a:ext cx="1980590" cy="27432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22769" y="2286000"/>
            <a:ext cx="198059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0" i="1">
                <a:solidFill>
                  <a:srgbClr val="5F636B"/>
                </a:solidFill>
                <a:latin typeface="Calibri"/>
              </a:rPr>
              <a:t>clone-project (cascade)</a:t>
            </a:r>
          </a:p>
        </p:txBody>
      </p:sp>
      <p:cxnSp>
        <p:nvCxnSpPr>
          <p:cNvPr id="23" name="Connector 22"/>
          <p:cNvCxnSpPr>
            <a:stCxn id="10" idx="1"/>
            <a:endCxn id="11" idx="3"/>
          </p:cNvCxnSpPr>
          <p:nvPr/>
        </p:nvCxnSpPr>
        <p:spPr>
          <a:xfrm flipV="1">
            <a:off x="320040" y="3657600"/>
            <a:ext cx="3429000" cy="0"/>
          </a:xfrm>
          <a:prstGeom prst="line">
            <a:avLst/>
          </a:prstGeom>
          <a:ln w="15875">
            <a:solidFill>
              <a:srgbClr val="5F636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>
            <a:stCxn id="11" idx="1"/>
            <a:endCxn id="12" idx="3"/>
          </p:cNvCxnSpPr>
          <p:nvPr/>
        </p:nvCxnSpPr>
        <p:spPr>
          <a:xfrm flipV="1">
            <a:off x="2057400" y="3657600"/>
            <a:ext cx="3520440" cy="0"/>
          </a:xfrm>
          <a:prstGeom prst="line">
            <a:avLst/>
          </a:prstGeom>
          <a:ln w="15875">
            <a:solidFill>
              <a:srgbClr val="5F636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>
            <a:stCxn id="12" idx="1"/>
            <a:endCxn id="13" idx="3"/>
          </p:cNvCxnSpPr>
          <p:nvPr/>
        </p:nvCxnSpPr>
        <p:spPr>
          <a:xfrm flipV="1">
            <a:off x="3886200" y="3657600"/>
            <a:ext cx="3474720" cy="0"/>
          </a:xfrm>
          <a:prstGeom prst="line">
            <a:avLst/>
          </a:prstGeom>
          <a:ln w="15875">
            <a:solidFill>
              <a:srgbClr val="5F636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5255972" y="2971800"/>
            <a:ext cx="780897" cy="27432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55972" y="2971800"/>
            <a:ext cx="780897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00" b="0" i="1">
                <a:solidFill>
                  <a:srgbClr val="5F636B"/>
                </a:solidFill>
                <a:latin typeface="Calibri"/>
              </a:rPr>
              <a:t>approve</a:t>
            </a:r>
          </a:p>
        </p:txBody>
      </p:sp>
      <p:cxnSp>
        <p:nvCxnSpPr>
          <p:cNvPr id="28" name="Connector 27"/>
          <p:cNvCxnSpPr>
            <a:stCxn id="12" idx="0"/>
            <a:endCxn id="10" idx="0"/>
          </p:cNvCxnSpPr>
          <p:nvPr/>
        </p:nvCxnSpPr>
        <p:spPr>
          <a:xfrm flipH="1">
            <a:off x="1120140" y="3291840"/>
            <a:ext cx="3611880" cy="0"/>
          </a:xfrm>
          <a:prstGeom prst="bentConnector3">
            <a:avLst/>
          </a:prstGeom>
          <a:ln w="15875">
            <a:solidFill>
              <a:srgbClr val="5F636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2160728" y="2240280"/>
            <a:ext cx="1530705" cy="27432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60728" y="2240280"/>
            <a:ext cx="1530705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00" b="0" i="1">
                <a:solidFill>
                  <a:srgbClr val="5F636B"/>
                </a:solidFill>
                <a:latin typeface="Calibri"/>
              </a:rPr>
              <a:t>reject, count &lt; 5</a:t>
            </a:r>
          </a:p>
        </p:txBody>
      </p:sp>
      <p:cxnSp>
        <p:nvCxnSpPr>
          <p:cNvPr id="31" name="Connector 30"/>
          <p:cNvCxnSpPr>
            <a:stCxn id="13" idx="1"/>
            <a:endCxn id="14" idx="3"/>
          </p:cNvCxnSpPr>
          <p:nvPr/>
        </p:nvCxnSpPr>
        <p:spPr>
          <a:xfrm flipV="1">
            <a:off x="5715000" y="3657600"/>
            <a:ext cx="3657598" cy="0"/>
          </a:xfrm>
          <a:prstGeom prst="line">
            <a:avLst/>
          </a:prstGeom>
          <a:ln w="15875">
            <a:solidFill>
              <a:srgbClr val="5F636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>
            <a:stCxn id="14" idx="1"/>
            <a:endCxn id="15" idx="3"/>
          </p:cNvCxnSpPr>
          <p:nvPr/>
        </p:nvCxnSpPr>
        <p:spPr>
          <a:xfrm flipV="1">
            <a:off x="7498079" y="3657600"/>
            <a:ext cx="4160521" cy="0"/>
          </a:xfrm>
          <a:prstGeom prst="line">
            <a:avLst/>
          </a:prstGeom>
          <a:ln w="15875">
            <a:solidFill>
              <a:srgbClr val="5F636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8975750" y="2971800"/>
            <a:ext cx="930859" cy="27432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75750" y="2971800"/>
            <a:ext cx="930859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00" b="0" i="1">
                <a:solidFill>
                  <a:srgbClr val="5F636B"/>
                </a:solidFill>
                <a:latin typeface="Calibri"/>
              </a:rPr>
              <a:t>no issues</a:t>
            </a:r>
          </a:p>
        </p:txBody>
      </p:sp>
      <p:cxnSp>
        <p:nvCxnSpPr>
          <p:cNvPr id="35" name="Connector 34"/>
          <p:cNvCxnSpPr>
            <a:stCxn id="14" idx="2"/>
            <a:endCxn id="16" idx="0"/>
          </p:cNvCxnSpPr>
          <p:nvPr/>
        </p:nvCxnSpPr>
        <p:spPr>
          <a:xfrm flipH="1">
            <a:off x="8435338" y="4023360"/>
            <a:ext cx="0" cy="1051560"/>
          </a:xfrm>
          <a:prstGeom prst="line">
            <a:avLst/>
          </a:prstGeom>
          <a:ln w="15875">
            <a:solidFill>
              <a:srgbClr val="5F636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7857438" y="4411980"/>
            <a:ext cx="1155801" cy="27432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57438" y="4411980"/>
            <a:ext cx="1155801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00" b="0" i="1">
                <a:solidFill>
                  <a:srgbClr val="5F636B"/>
                </a:solidFill>
                <a:latin typeface="Calibri"/>
              </a:rPr>
              <a:t>issues found</a:t>
            </a:r>
          </a:p>
        </p:txBody>
      </p:sp>
      <p:cxnSp>
        <p:nvCxnSpPr>
          <p:cNvPr id="38" name="Connector 37"/>
          <p:cNvCxnSpPr>
            <a:stCxn id="16" idx="3"/>
            <a:endCxn id="14" idx="3"/>
          </p:cNvCxnSpPr>
          <p:nvPr/>
        </p:nvCxnSpPr>
        <p:spPr>
          <a:xfrm flipV="1" flipH="1">
            <a:off x="9372598" y="3657600"/>
            <a:ext cx="0" cy="1783080"/>
          </a:xfrm>
          <a:prstGeom prst="bentConnector3">
            <a:avLst/>
          </a:prstGeom>
          <a:ln w="15875">
            <a:solidFill>
              <a:srgbClr val="5F636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6446519" y="4732020"/>
            <a:ext cx="2103120" cy="27432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46519" y="4732020"/>
            <a:ext cx="21031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00" b="0" i="1">
                <a:solidFill>
                  <a:srgbClr val="5F636B"/>
                </a:solidFill>
                <a:latin typeface="Calibri"/>
              </a:rPr>
              <a:t>disagree, round &lt; cap (2)</a:t>
            </a:r>
          </a:p>
        </p:txBody>
      </p:sp>
      <p:cxnSp>
        <p:nvCxnSpPr>
          <p:cNvPr id="41" name="Connector 40"/>
          <p:cNvCxnSpPr>
            <a:stCxn id="16" idx="1"/>
            <a:endCxn id="15" idx="2"/>
          </p:cNvCxnSpPr>
          <p:nvPr/>
        </p:nvCxnSpPr>
        <p:spPr>
          <a:xfrm flipV="1">
            <a:off x="7498079" y="4023360"/>
            <a:ext cx="3086101" cy="1417320"/>
          </a:xfrm>
          <a:prstGeom prst="bentConnector3">
            <a:avLst/>
          </a:prstGeom>
          <a:ln w="15875">
            <a:solidFill>
              <a:srgbClr val="5F636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9512960" y="4594860"/>
            <a:ext cx="930859" cy="27432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12960" y="4594860"/>
            <a:ext cx="930859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00" b="0" i="1">
                <a:solidFill>
                  <a:srgbClr val="5F636B"/>
                </a:solidFill>
                <a:latin typeface="Calibri"/>
              </a:rPr>
              <a:t>converged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BOOTSTRAP — THE TWO RETRY LOOPS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C1E22"/>
                </a:solidFill>
                <a:latin typeface="Georgia"/>
              </a:rPr>
              <a:t>Neither is a model judgment call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92024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400" b="1" i="0">
                <a:solidFill>
                  <a:srgbClr val="1C1E22"/>
                </a:solidFill>
                <a:latin typeface="Calibri"/>
              </a:rPr>
              <a:t>CERTIFY_MANIFEST reject loop. </a:t>
            </a:r>
            <a:r>
              <a:rPr sz="1400" b="0" i="0">
                <a:solidFill>
                  <a:srgbClr val="1C1E22"/>
                </a:solidFill>
                <a:latin typeface="Calibri"/>
              </a:rPr>
              <a:t>Any reject re-enqueues SURVEY_SPEC with CERTIFY's feedback prepended. At reject count 5, project.status = full_stopped.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400" b="1" i="0">
                <a:solidFill>
                  <a:srgbClr val="1C1E22"/>
                </a:solidFill>
                <a:latin typeface="Calibri"/>
              </a:rPr>
              <a:t>DECOMPOSE_SPEC ↔ AUDIT/RECONCILE loop (not drawn above, kept as escalation edges only). </a:t>
            </a:r>
            <a:r>
              <a:rPr sz="1400" b="0" i="0">
                <a:solidFill>
                  <a:srgbClr val="1C1E22"/>
                </a:solidFill>
                <a:latin typeface="Calibri"/>
              </a:rPr>
              <a:t>A mechanical structural check runs on the proposed decomposition: forward file-reference, bead-ordering, or a bead-list merge/drop against the design doc's own numbered list. DECOMPOSE_SPEC failing it re-enqueues with the violations in its prompt; at decomposeRedecomposeCap (3), full_stopped.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400" b="1" i="0">
                <a:solidFill>
                  <a:srgbClr val="1C1E22"/>
                </a:solidFill>
                <a:latin typeface="Calibri"/>
              </a:rPr>
              <a:t>RECONCILE_DECOMPOSITION's own reject loop. </a:t>
            </a:r>
            <a:r>
              <a:rPr sz="1400" b="0" i="0">
                <a:solidFill>
                  <a:srgbClr val="1C1E22"/>
                </a:solidFill>
                <a:latin typeface="Calibri"/>
              </a:rPr>
              <a:t>Failing the same structural check on its own proposed fix re-enqueues RECONCILE; at reconcileRejectCap (3), the job escalates.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400" b="0" i="0">
                <a:solidFill>
                  <a:srgbClr val="1C1E22"/>
                </a:solidFill>
                <a:latin typeface="Calibri"/>
              </a:rPr>
              <a:t>DECOMPOSITION_APPROVED is not a verb — it's the shared checkpoint both the AUDIT-no_issues and RECONCILE-converged paths funnel through, before dispatching bead 1, pausing, or (cascade) entering CASCADE_REVIEW.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STATE MACHINE REFERENCE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06 / 17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DIAGRAM 3 OF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2600" b="1" i="0">
                <a:solidFill>
                  <a:srgbClr val="1C1E22"/>
                </a:solidFill>
                <a:latin typeface="Georgia"/>
              </a:rPr>
              <a:t>The per-bead pipeline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05332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200" b="0" i="1">
                <a:solidFill>
                  <a:srgbClr val="5F636B"/>
                </a:solidFill>
                <a:latin typeface="Calibri"/>
              </a:rPr>
              <a:t>beads.status: pending -&gt; executing -&gt; succeeded/full_stopped. Everything below is the verb chain inside 'executing.'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STATE MACHINE REFERENCE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07 / 17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20040" y="3291840"/>
            <a:ext cx="1371600" cy="731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D6D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>
            <a:noAutofit/>
          </a:bodyPr>
          <a:lstStyle/>
          <a:p>
            <a:pPr algn="ctr">
              <a:lnSpc>
                <a:spcPct val="95000"/>
              </a:lnSpc>
            </a:pPr>
            <a:r>
              <a:rPr sz="1000" b="1" i="0">
                <a:solidFill>
                  <a:srgbClr val="1C1E22"/>
                </a:solidFill>
                <a:latin typeface="Consolas"/>
              </a:rPr>
              <a:t>WRITE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3291840"/>
            <a:ext cx="1371600" cy="731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D6D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>
            <a:noAutofit/>
          </a:bodyPr>
          <a:lstStyle/>
          <a:p>
            <a:pPr algn="ctr">
              <a:lnSpc>
                <a:spcPct val="95000"/>
              </a:lnSpc>
            </a:pPr>
            <a:r>
              <a:rPr sz="1000" b="1" i="0">
                <a:solidFill>
                  <a:srgbClr val="1C1E22"/>
                </a:solidFill>
                <a:latin typeface="Consolas"/>
              </a:rPr>
              <a:t>CRITIQUE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3291840"/>
            <a:ext cx="1234440" cy="731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D6D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>
            <a:noAutofit/>
          </a:bodyPr>
          <a:lstStyle/>
          <a:p>
            <a:pPr algn="ctr">
              <a:lnSpc>
                <a:spcPct val="95000"/>
              </a:lnSpc>
            </a:pPr>
            <a:r>
              <a:rPr sz="1000" b="1" i="0">
                <a:solidFill>
                  <a:srgbClr val="1C1E22"/>
                </a:solidFill>
                <a:latin typeface="Consolas"/>
              </a:rPr>
              <a:t>JUDGE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3291840"/>
            <a:ext cx="1371600" cy="731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D6D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>
            <a:noAutofit/>
          </a:bodyPr>
          <a:lstStyle/>
          <a:p>
            <a:pPr algn="ctr">
              <a:lnSpc>
                <a:spcPct val="95000"/>
              </a:lnSpc>
            </a:pPr>
            <a:r>
              <a:rPr sz="1000" b="1" i="0">
                <a:solidFill>
                  <a:srgbClr val="1C1E22"/>
                </a:solidFill>
                <a:latin typeface="Consolas"/>
              </a:rPr>
              <a:t>EXECUTE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291840"/>
            <a:ext cx="1371600" cy="731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D6D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>
            <a:noAutofit/>
          </a:bodyPr>
          <a:lstStyle/>
          <a:p>
            <a:pPr algn="ctr">
              <a:lnSpc>
                <a:spcPct val="95000"/>
              </a:lnSpc>
            </a:pPr>
            <a:r>
              <a:rPr sz="950" b="1" i="0">
                <a:solidFill>
                  <a:srgbClr val="1C1E22"/>
                </a:solidFill>
                <a:latin typeface="Consolas"/>
              </a:rPr>
              <a:t>ANALYZE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26679" y="3291840"/>
            <a:ext cx="1463040" cy="731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D6D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>
            <a:noAutofit/>
          </a:bodyPr>
          <a:lstStyle/>
          <a:p>
            <a:pPr algn="ctr">
              <a:lnSpc>
                <a:spcPct val="95000"/>
              </a:lnSpc>
            </a:pPr>
            <a:r>
              <a:rPr sz="950" b="1" i="0">
                <a:solidFill>
                  <a:srgbClr val="1C1E22"/>
                </a:solidFill>
                <a:latin typeface="Consolas"/>
              </a:rPr>
              <a:t>COMPRESS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26880" y="3291840"/>
            <a:ext cx="1691640" cy="731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D6D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>
            <a:noAutofit/>
          </a:bodyPr>
          <a:lstStyle/>
          <a:p>
            <a:pPr algn="ctr">
              <a:lnSpc>
                <a:spcPct val="95000"/>
              </a:lnSpc>
            </a:pPr>
            <a:r>
              <a:rPr sz="950" b="1" i="0">
                <a:solidFill>
                  <a:srgbClr val="1C1E22"/>
                </a:solidFill>
                <a:latin typeface="Consolas"/>
              </a:rPr>
              <a:t>ADJUDICATE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69680" y="5212080"/>
            <a:ext cx="1188720" cy="502920"/>
          </a:xfrm>
          <a:prstGeom prst="roundRect">
            <a:avLst/>
          </a:prstGeom>
          <a:solidFill>
            <a:srgbClr val="E7EFE1"/>
          </a:solidFill>
          <a:ln w="15875">
            <a:solidFill>
              <a:srgbClr val="4F7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>
            <a:noAutofit/>
          </a:bodyPr>
          <a:lstStyle/>
          <a:p>
            <a:pPr algn="ctr">
              <a:lnSpc>
                <a:spcPct val="95000"/>
              </a:lnSpc>
            </a:pPr>
            <a:r>
              <a:rPr sz="900" b="1" i="0">
                <a:solidFill>
                  <a:srgbClr val="1C1E22"/>
                </a:solidFill>
                <a:latin typeface="Consolas"/>
              </a:rPr>
              <a:t>done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41280" y="5212080"/>
            <a:ext cx="1737360" cy="502920"/>
          </a:xfrm>
          <a:prstGeom prst="roundRect">
            <a:avLst/>
          </a:prstGeom>
          <a:solidFill>
            <a:srgbClr val="F2E0DC"/>
          </a:solidFill>
          <a:ln w="15875">
            <a:solidFill>
              <a:srgbClr val="A8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>
            <a:noAutofit/>
          </a:bodyPr>
          <a:lstStyle/>
          <a:p>
            <a:pPr algn="ctr">
              <a:lnSpc>
                <a:spcPct val="95000"/>
              </a:lnSpc>
            </a:pPr>
            <a:r>
              <a:rPr sz="900" b="1" i="0">
                <a:solidFill>
                  <a:srgbClr val="1C1E22"/>
                </a:solidFill>
                <a:latin typeface="Consolas"/>
              </a:rPr>
              <a:t>full_stop</a:t>
            </a:r>
          </a:p>
        </p:txBody>
      </p:sp>
      <p:cxnSp>
        <p:nvCxnSpPr>
          <p:cNvPr id="19" name="Connector 18"/>
          <p:cNvCxnSpPr>
            <a:stCxn id="10" idx="1"/>
            <a:endCxn id="11" idx="3"/>
          </p:cNvCxnSpPr>
          <p:nvPr/>
        </p:nvCxnSpPr>
        <p:spPr>
          <a:xfrm flipV="1">
            <a:off x="320040" y="3657600"/>
            <a:ext cx="2880360" cy="0"/>
          </a:xfrm>
          <a:prstGeom prst="line">
            <a:avLst/>
          </a:prstGeom>
          <a:ln w="15875">
            <a:solidFill>
              <a:srgbClr val="5F636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332281" y="2971800"/>
            <a:ext cx="855878" cy="27432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32281" y="2971800"/>
            <a:ext cx="855878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00" b="0" i="1">
                <a:solidFill>
                  <a:srgbClr val="5F636B"/>
                </a:solidFill>
                <a:latin typeface="Calibri"/>
              </a:rPr>
              <a:t>compiles</a:t>
            </a:r>
          </a:p>
        </p:txBody>
      </p:sp>
      <p:cxnSp>
        <p:nvCxnSpPr>
          <p:cNvPr id="22" name="Connector 21"/>
          <p:cNvCxnSpPr>
            <a:stCxn id="11" idx="1"/>
            <a:endCxn id="12" idx="3"/>
          </p:cNvCxnSpPr>
          <p:nvPr/>
        </p:nvCxnSpPr>
        <p:spPr>
          <a:xfrm flipV="1">
            <a:off x="1828800" y="3657600"/>
            <a:ext cx="2743200" cy="0"/>
          </a:xfrm>
          <a:prstGeom prst="line">
            <a:avLst/>
          </a:prstGeom>
          <a:ln w="15875">
            <a:solidFill>
              <a:srgbClr val="5F636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>
            <a:stCxn id="12" idx="0"/>
            <a:endCxn id="10" idx="0"/>
          </p:cNvCxnSpPr>
          <p:nvPr/>
        </p:nvCxnSpPr>
        <p:spPr>
          <a:xfrm flipH="1">
            <a:off x="1005840" y="3291840"/>
            <a:ext cx="2948940" cy="0"/>
          </a:xfrm>
          <a:prstGeom prst="bentConnector3">
            <a:avLst/>
          </a:prstGeom>
          <a:ln w="15875">
            <a:solidFill>
              <a:srgbClr val="5F636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1714958" y="2240280"/>
            <a:ext cx="1530705" cy="27432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14958" y="2240280"/>
            <a:ext cx="1530705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00" b="0" i="1">
                <a:solidFill>
                  <a:srgbClr val="5F636B"/>
                </a:solidFill>
                <a:latin typeface="Calibri"/>
              </a:rPr>
              <a:t>revise, cycle ≤ 5</a:t>
            </a:r>
          </a:p>
        </p:txBody>
      </p:sp>
      <p:cxnSp>
        <p:nvCxnSpPr>
          <p:cNvPr id="26" name="Connector 25"/>
          <p:cNvCxnSpPr>
            <a:stCxn id="12" idx="1"/>
            <a:endCxn id="13" idx="3"/>
          </p:cNvCxnSpPr>
          <p:nvPr/>
        </p:nvCxnSpPr>
        <p:spPr>
          <a:xfrm flipV="1">
            <a:off x="3337560" y="3657600"/>
            <a:ext cx="2743200" cy="0"/>
          </a:xfrm>
          <a:prstGeom prst="line">
            <a:avLst/>
          </a:prstGeom>
          <a:ln w="15875">
            <a:solidFill>
              <a:srgbClr val="5F636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4212641" y="2971800"/>
            <a:ext cx="855878" cy="27432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12641" y="2971800"/>
            <a:ext cx="855878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00" b="0" i="1">
                <a:solidFill>
                  <a:srgbClr val="5F636B"/>
                </a:solidFill>
                <a:latin typeface="Calibri"/>
              </a:rPr>
              <a:t>approved</a:t>
            </a:r>
          </a:p>
        </p:txBody>
      </p:sp>
      <p:cxnSp>
        <p:nvCxnSpPr>
          <p:cNvPr id="29" name="Connector 28"/>
          <p:cNvCxnSpPr>
            <a:stCxn id="13" idx="1"/>
            <a:endCxn id="14" idx="3"/>
          </p:cNvCxnSpPr>
          <p:nvPr/>
        </p:nvCxnSpPr>
        <p:spPr>
          <a:xfrm flipV="1">
            <a:off x="4709160" y="3657600"/>
            <a:ext cx="2880360" cy="0"/>
          </a:xfrm>
          <a:prstGeom prst="line">
            <a:avLst/>
          </a:prstGeom>
          <a:ln w="15875">
            <a:solidFill>
              <a:srgbClr val="5F636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>
            <a:stCxn id="14" idx="1"/>
            <a:endCxn id="15" idx="3"/>
          </p:cNvCxnSpPr>
          <p:nvPr/>
        </p:nvCxnSpPr>
        <p:spPr>
          <a:xfrm flipV="1">
            <a:off x="6217920" y="3657600"/>
            <a:ext cx="2971799" cy="0"/>
          </a:xfrm>
          <a:prstGeom prst="line">
            <a:avLst/>
          </a:prstGeom>
          <a:ln w="15875">
            <a:solidFill>
              <a:srgbClr val="5F636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>
            <a:stCxn id="15" idx="1"/>
            <a:endCxn id="16" idx="3"/>
          </p:cNvCxnSpPr>
          <p:nvPr/>
        </p:nvCxnSpPr>
        <p:spPr>
          <a:xfrm flipV="1">
            <a:off x="7726679" y="3657600"/>
            <a:ext cx="3291841" cy="0"/>
          </a:xfrm>
          <a:prstGeom prst="line">
            <a:avLst/>
          </a:prstGeom>
          <a:ln w="15875">
            <a:solidFill>
              <a:srgbClr val="5F636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>
            <a:stCxn id="16" idx="0"/>
            <a:endCxn id="13" idx="0"/>
          </p:cNvCxnSpPr>
          <p:nvPr/>
        </p:nvCxnSpPr>
        <p:spPr>
          <a:xfrm flipH="1">
            <a:off x="5394960" y="3291840"/>
            <a:ext cx="4777740" cy="0"/>
          </a:xfrm>
          <a:prstGeom prst="bentConnector3">
            <a:avLst/>
          </a:prstGeom>
          <a:ln w="15875">
            <a:solidFill>
              <a:srgbClr val="5F636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6732270" y="2240280"/>
            <a:ext cx="2103120" cy="27432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32270" y="2240280"/>
            <a:ext cx="21031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0" i="1">
                <a:solidFill>
                  <a:srgbClr val="5F636B"/>
                </a:solidFill>
                <a:latin typeface="Calibri"/>
              </a:rPr>
              <a:t>retry: as-is/revised/test_reject</a:t>
            </a:r>
          </a:p>
        </p:txBody>
      </p:sp>
      <p:cxnSp>
        <p:nvCxnSpPr>
          <p:cNvPr id="35" name="Connector 34"/>
          <p:cNvCxnSpPr>
            <a:stCxn id="16" idx="2"/>
            <a:endCxn id="12" idx="2"/>
          </p:cNvCxnSpPr>
          <p:nvPr/>
        </p:nvCxnSpPr>
        <p:spPr>
          <a:xfrm flipH="1" flipV="1">
            <a:off x="3954780" y="4023360"/>
            <a:ext cx="6217920" cy="0"/>
          </a:xfrm>
          <a:prstGeom prst="bentConnector3">
            <a:avLst/>
          </a:prstGeom>
          <a:ln w="15875">
            <a:solidFill>
              <a:srgbClr val="5F636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6035955" y="4800600"/>
            <a:ext cx="2055571" cy="27432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35955" y="4800600"/>
            <a:ext cx="2055571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0" i="1">
                <a:solidFill>
                  <a:srgbClr val="5F636B"/>
                </a:solidFill>
                <a:latin typeface="Calibri"/>
              </a:rPr>
              <a:t>re_refine — bypasses cap</a:t>
            </a:r>
          </a:p>
        </p:txBody>
      </p:sp>
      <p:cxnSp>
        <p:nvCxnSpPr>
          <p:cNvPr id="38" name="Connector 37"/>
          <p:cNvCxnSpPr>
            <a:stCxn id="16" idx="2"/>
            <a:endCxn id="17" idx="0"/>
          </p:cNvCxnSpPr>
          <p:nvPr/>
        </p:nvCxnSpPr>
        <p:spPr>
          <a:xfrm flipH="1">
            <a:off x="9464040" y="4023360"/>
            <a:ext cx="708660" cy="1188720"/>
          </a:xfrm>
          <a:prstGeom prst="bentConnector3">
            <a:avLst/>
          </a:prstGeom>
          <a:ln w="15875">
            <a:solidFill>
              <a:srgbClr val="5F636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8766810" y="4480560"/>
            <a:ext cx="2103120" cy="27432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66810" y="4480560"/>
            <a:ext cx="21031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0" i="1">
                <a:solidFill>
                  <a:srgbClr val="5F636B"/>
                </a:solidFill>
                <a:latin typeface="Calibri"/>
              </a:rPr>
              <a:t>declare_success, criteria pass</a:t>
            </a:r>
          </a:p>
        </p:txBody>
      </p:sp>
      <p:cxnSp>
        <p:nvCxnSpPr>
          <p:cNvPr id="41" name="Connector 40"/>
          <p:cNvCxnSpPr>
            <a:stCxn id="16" idx="1"/>
            <a:endCxn id="18" idx="0"/>
          </p:cNvCxnSpPr>
          <p:nvPr/>
        </p:nvCxnSpPr>
        <p:spPr>
          <a:xfrm>
            <a:off x="9326880" y="3657600"/>
            <a:ext cx="1783080" cy="1554480"/>
          </a:xfrm>
          <a:prstGeom prst="bentConnector3">
            <a:avLst/>
          </a:prstGeom>
          <a:ln w="15875">
            <a:solidFill>
              <a:srgbClr val="5F636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10598811" y="4297680"/>
            <a:ext cx="930859" cy="27432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98811" y="4297680"/>
            <a:ext cx="930859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00" b="0" i="1">
                <a:solidFill>
                  <a:srgbClr val="5F636B"/>
                </a:solidFill>
                <a:latin typeface="Calibri"/>
              </a:rPr>
              <a:t>full_stop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ADJUDICATE'S DECISION MENU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C1E22"/>
                </a:solidFill>
                <a:latin typeface="Georgia"/>
              </a:rPr>
              <a:t>Six outcomes, each mechanically gated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92024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400" b="1" i="0">
                <a:solidFill>
                  <a:srgbClr val="1C1E22"/>
                </a:solidFill>
                <a:latin typeface="Calibri"/>
              </a:rPr>
              <a:t>execute_as_is / execute_revised </a:t>
            </a:r>
            <a:r>
              <a:rPr sz="1400" b="0" i="0">
                <a:solidFill>
                  <a:srgbClr val="1C1E22"/>
                </a:solidFill>
                <a:latin typeface="Calibri"/>
              </a:rPr>
              <a:t>— retry, under max_execution_attempts. A revised spec passes a source-side gate first (see next slide) or silently downgrades to execute_as_is.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400" b="1" i="0">
                <a:solidFill>
                  <a:srgbClr val="1C1E22"/>
                </a:solidFill>
                <a:latin typeface="Calibri"/>
              </a:rPr>
              <a:t>test_reject </a:t>
            </a:r>
            <a:r>
              <a:rPr sz="1400" b="0" i="0">
                <a:solidFill>
                  <a:srgbClr val="1C1E22"/>
                </a:solidFill>
                <a:latin typeface="Calibri"/>
              </a:rPr>
              <a:t>— test-first mode only (a bead that starts at EXECUTE_BEAD because it already has test files from elsewhere): deletes the test files, revises the spec, retries under the attempt cap.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400" b="1" i="0">
                <a:solidFill>
                  <a:srgbClr val="1C1E22"/>
                </a:solidFill>
                <a:latin typeface="Calibri"/>
              </a:rPr>
              <a:t>re_refine </a:t>
            </a:r>
            <a:r>
              <a:rPr sz="1400" b="0" i="0">
                <a:solidFill>
                  <a:srgbClr val="1C1E22"/>
                </a:solidFill>
                <a:latin typeface="Calibri"/>
              </a:rPr>
              <a:t>— REFINE_TESTS mode only: routes back to REFINE_TESTS_JUDGE, grants a fresh attempt budget, and deliberately bypasses the attempt cap — "the test was wrong" is accounted differently than "the model couldn't implement it."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400" b="1" i="0">
                <a:solidFill>
                  <a:srgbClr val="1C1E22"/>
                </a:solidFill>
                <a:latin typeface="Calibri"/>
              </a:rPr>
              <a:t>declare_success </a:t>
            </a:r>
            <a:r>
              <a:rPr sz="1400" b="0" i="0">
                <a:solidFill>
                  <a:srgbClr val="1C1E22"/>
                </a:solidFill>
                <a:latin typeface="Calibri"/>
              </a:rPr>
              <a:t>— gated: VerifyExitCriteriaIsolated re-runs the criteria command against a copy of the files. Failure retries EXECUTE under the cap.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400" b="1" i="0">
                <a:solidFill>
                  <a:srgbClr val="1C1E22"/>
                </a:solidFill>
                <a:latin typeface="Calibri"/>
              </a:rPr>
              <a:t>full_stop </a:t>
            </a:r>
            <a:r>
              <a:rPr sz="1400" b="0" i="0">
                <a:solidFill>
                  <a:srgbClr val="1C1E22"/>
                </a:solidFill>
                <a:latin typeface="Calibri"/>
              </a:rPr>
              <a:t>— terminal; the project's remaining pending beads cascade to full_stopped too.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STATE MACHINE REFERENCE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08 / 17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MECHANICAL GATES ON ADJUDICATE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C1E22"/>
                </a:solidFill>
                <a:latin typeface="Georgia"/>
              </a:rPr>
              <a:t>The model's decision is not taken on trust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92024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400" b="1" i="0">
                <a:solidFill>
                  <a:srgbClr val="1C1E22"/>
                </a:solidFill>
                <a:latin typeface="Calibri"/>
              </a:rPr>
              <a:t>declare_success </a:t>
            </a:r>
            <a:r>
              <a:rPr sz="1400" b="0" i="0">
                <a:solidFill>
                  <a:srgbClr val="1C1E22"/>
                </a:solidFill>
                <a:latin typeface="Calibri"/>
              </a:rPr>
              <a:t>runs VerifyExitCriteriaIsolated against a COPY of the files, not the live folder — an entrypoint bead's own "go build" criterion was littering the real tree with binaries as a side effect of merely checking it.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400" b="1" i="0">
                <a:solidFill>
                  <a:srgbClr val="1C1E22"/>
                </a:solidFill>
                <a:latin typeface="Calibri"/>
              </a:rPr>
              <a:t>execute_revised </a:t>
            </a:r>
            <a:r>
              <a:rPr sz="1400" b="0" i="0">
                <a:solidFill>
                  <a:srgbClr val="1C1E22"/>
                </a:solidFill>
                <a:latin typeface="Calibri"/>
              </a:rPr>
              <a:t>gets a source-side gate: an orphan -run name, a grep guard for a file the bead doesn't own, a symbol a sibling bead's on-disk scaffold already declares (cross_bead_symbols.go), or a newly-invented required test function (that one is re_refine's job). A violation downgrades to execute_as_is.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400" b="1" i="0">
                <a:solidFill>
                  <a:srgbClr val="1C1E22"/>
                </a:solidFill>
                <a:latin typeface="Calibri"/>
              </a:rPr>
              <a:t>Every execute_revised commit </a:t>
            </a:r>
            <a:r>
              <a:rPr sz="1400" b="0" i="0">
                <a:solidFill>
                  <a:srgbClr val="1C1E22"/>
                </a:solidFill>
                <a:latin typeface="Calibri"/>
              </a:rPr>
              <a:t>re-runs InjectDesignDocPins against the new full_text — a full rewrite is exactly the kind of edit that can silently drop a verbatim Decomposition-Notes pin block.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400" b="1" i="0">
                <a:solidFill>
                  <a:srgbClr val="1C1E22"/>
                </a:solidFill>
                <a:latin typeface="Calibri"/>
              </a:rPr>
              <a:t>applyMechanicalBeadFixes </a:t>
            </a:r>
            <a:r>
              <a:rPr sz="1400" b="0" i="0">
                <a:solidFill>
                  <a:srgbClr val="1C1E22"/>
                </a:solidFill>
                <a:latin typeface="Calibri"/>
              </a:rPr>
              <a:t>normalizes the revised spec (e.g. go test with no test file) the same way DECOMPOSE/RECONCILE do at decomposition 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STATE MACHINE REFERENCE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09 / 17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MECHANICAL STALL/TIMEOUT DETECTION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C1E22"/>
                </a:solidFill>
                <a:latin typeface="Georgia"/>
              </a:rPr>
              <a:t>Timing is fixed, not budget-derived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92024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400" b="1" i="0">
                <a:solidFill>
                  <a:srgbClr val="1C1E22"/>
                </a:solidFill>
                <a:latin typeface="Calibri"/>
              </a:rPr>
              <a:t>execCheckpointInterval = 12m </a:t>
            </a:r>
            <a:r>
              <a:rPr sz="1400" b="0" i="0">
                <a:solidFill>
                  <a:srgbClr val="1C1E22"/>
                </a:solidFill>
                <a:latin typeface="Calibri"/>
              </a:rPr>
              <a:t>soft checkpoint. execAbsoluteCeiling = 45m hard backstop. execution_budget is no longer read for timing at all — the column stays in the schema, inert; execute_revised still floors a stored value at the project default.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400" b="1" i="0">
                <a:solidFill>
                  <a:srgbClr val="1C1E22"/>
                </a:solidFill>
                <a:latin typeface="Calibri"/>
              </a:rPr>
              <a:t>progressTracker </a:t>
            </a:r>
            <a:r>
              <a:rPr sz="1400" b="0" i="0">
                <a:solidFill>
                  <a:srgbClr val="1C1E22"/>
                </a:solidFill>
                <a:latin typeface="Calibri"/>
              </a:rPr>
              <a:t>judges a turn "productive" only if a write_file call leaves an in-scope output file at a content hash it hasn't held before this attempt — a no-op rewrite or an A→B→A revert doesn't count.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400" b="1" i="0">
                <a:solidFill>
                  <a:srgbClr val="1C1E22"/>
                </a:solidFill>
                <a:latin typeface="Calibri"/>
              </a:rPr>
              <a:t>Fast paths to stalled, well before the hard ceiling: </a:t>
            </a:r>
            <a:r>
              <a:rPr sz="1400" b="0" i="0">
                <a:solidFill>
                  <a:srgbClr val="1C1E22"/>
                </a:solidFill>
                <a:latin typeface="Calibri"/>
              </a:rPr>
              <a:t>an empty-turn streak, three consecutive identical tool calls, two consecutive length-cap "thinking with no output" turns, or no forward progress since the last soft checkpoint (which first injects one graceful-finalize directive and grants one more turn).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400" b="0" i="0">
                <a:solidFill>
                  <a:srgbClr val="1C1E22"/>
                </a:solidFill>
                <a:latin typeface="Calibri"/>
              </a:rPr>
              <a:t>If the hard ceiling fires with genuine progress still happening and no stall condition met, the cause is timeout instead.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STATE MACHINE REFERENCE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10 / 17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MECHANICAL STALL/TIMEOUT DETECTION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C1E22"/>
                </a:solidFill>
                <a:latin typeface="Georgia"/>
              </a:rPr>
              <a:t>timeout and stalled get different treatment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828800"/>
            <a:ext cx="10881360" cy="4389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300" b="1" i="0">
                <a:solidFill>
                  <a:srgbClr val="1C1E22"/>
                </a:solidFill>
                <a:latin typeface="Calibri"/>
              </a:rPr>
              <a:t>timeout is read as a SCOPE signal, </a:t>
            </a:r>
            <a:r>
              <a:rPr sz="1300" b="0" i="0">
                <a:solidFill>
                  <a:srgbClr val="1C1E22"/>
                </a:solidFill>
                <a:latin typeface="Calibri"/>
              </a:rPr>
              <a:t>not a speed problem. timeoutExecutionNote steers execute_revised toward narrowing the spec, never toward "try again with more room."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300" b="1" i="0">
                <a:solidFill>
                  <a:srgbClr val="1C1E22"/>
                </a:solidFill>
                <a:latin typeface="Calibri"/>
              </a:rPr>
              <a:t>Retired: the earlier budget-doubling behavior </a:t>
            </a:r>
            <a:r>
              <a:rPr sz="1300" b="0" i="0">
                <a:solidFill>
                  <a:srgbClr val="1C1E22"/>
                </a:solidFill>
                <a:latin typeface="Calibri"/>
              </a:rPr>
              <a:t>(900s → 1800s → 3600s → 7200s on repeated timeouts) — removed once checkpoint/ceiling stopped being budget-derived. A bigger window bought more thrashing, not more correctness.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300" b="1" i="0">
                <a:solidFill>
                  <a:srgbClr val="1C1E22"/>
                </a:solidFill>
                <a:latin typeface="Calibri"/>
              </a:rPr>
              <a:t>Two consecutive same-cause terminations escalate automatically: </a:t>
            </a:r>
            <a:r>
              <a:rPr sz="1300" b="0" i="0">
                <a:solidFill>
                  <a:srgbClr val="1C1E22"/>
                </a:solidFill>
                <a:latin typeface="Calibri"/>
              </a:rPr>
              <a:t>escalateOnRepeatedTimeout and escalateOnRepeatedStall mirror each other. re_refine is never chosen for either (the tests were never reached).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300" b="1" i="0">
                <a:solidFill>
                  <a:srgbClr val="1C1E22"/>
                </a:solidFill>
                <a:latin typeface="Calibri"/>
              </a:rPr>
              <a:t>A repeated-stall escalation is tagged "EXECUTE-ceiling" </a:t>
            </a:r>
            <a:r>
              <a:rPr sz="1300" b="0" i="0">
                <a:solidFill>
                  <a:srgbClr val="1C1E22"/>
                </a:solidFill>
                <a:latin typeface="Calibri"/>
              </a:rPr>
              <a:t>in its report when ADJUDICATE had already tried two execute_revised rewrites first — the bead likely needs a doc-side split, not another revision. Tag only; no control-flow change.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300" b="1" i="0">
                <a:solidFill>
                  <a:srgbClr val="1C1E22"/>
                </a:solidFill>
                <a:latin typeface="Calibri"/>
              </a:rPr>
              <a:t>monitor_terminated / monitor_force_killed sit outside all of this — </a:t>
            </a:r>
            <a:r>
              <a:rPr sz="1300" b="0" i="0">
                <a:solidFill>
                  <a:srgbClr val="1C1E22"/>
                </a:solidFill>
                <a:latin typeface="Calibri"/>
              </a:rPr>
              <a:t>MONITOR_EXECUTION killing the process externally isn't a timing decision EXECUTE_BEAD made about itself.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STATE MACHINE REFERENCE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11 / 17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DIAGRAM 4 OF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2600" b="1" i="0">
                <a:solidFill>
                  <a:srgbClr val="1C1E22"/>
                </a:solidFill>
                <a:latin typeface="Georgia"/>
              </a:rPr>
              <a:t>Generic job status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05332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200" b="0" i="1">
                <a:solidFill>
                  <a:srgbClr val="5F636B"/>
                </a:solidFill>
                <a:latin typeface="Calibri"/>
              </a:rPr>
              <a:t>handoff_jobs.status, underneath every verb above except EXECUTE_BEAD (its own supervised loop, drawn in Diagram 3).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STATE MACHINE REFERENCE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12 / 17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280160" y="3291840"/>
            <a:ext cx="1828800" cy="685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D6D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>
            <a:noAutofit/>
          </a:bodyPr>
          <a:lstStyle/>
          <a:p>
            <a:pPr algn="ctr">
              <a:lnSpc>
                <a:spcPct val="95000"/>
              </a:lnSpc>
            </a:pPr>
            <a:r>
              <a:rPr sz="1050" b="1" i="0">
                <a:solidFill>
                  <a:srgbClr val="1C1E22"/>
                </a:solidFill>
                <a:latin typeface="Consolas"/>
              </a:rPr>
              <a:t>pending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3291840"/>
            <a:ext cx="1828800" cy="685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D6D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>
            <a:noAutofit/>
          </a:bodyPr>
          <a:lstStyle/>
          <a:p>
            <a:pPr algn="ctr">
              <a:lnSpc>
                <a:spcPct val="95000"/>
              </a:lnSpc>
            </a:pPr>
            <a:r>
              <a:rPr sz="1050" b="1" i="0">
                <a:solidFill>
                  <a:srgbClr val="1C1E22"/>
                </a:solidFill>
                <a:latin typeface="Consolas"/>
              </a:rPr>
              <a:t>running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3291840"/>
            <a:ext cx="2011680" cy="685800"/>
          </a:xfrm>
          <a:prstGeom prst="roundRect">
            <a:avLst/>
          </a:prstGeom>
          <a:solidFill>
            <a:srgbClr val="E7EFE1"/>
          </a:solidFill>
          <a:ln w="15875">
            <a:solidFill>
              <a:srgbClr val="4F7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>
            <a:noAutofit/>
          </a:bodyPr>
          <a:lstStyle/>
          <a:p>
            <a:pPr algn="ctr">
              <a:lnSpc>
                <a:spcPct val="95000"/>
              </a:lnSpc>
            </a:pPr>
            <a:r>
              <a:rPr sz="1050" b="1" i="0">
                <a:solidFill>
                  <a:srgbClr val="1C1E22"/>
                </a:solidFill>
                <a:latin typeface="Consolas"/>
              </a:rPr>
              <a:t>complete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1600200"/>
            <a:ext cx="1828800" cy="640080"/>
          </a:xfrm>
          <a:prstGeom prst="roundRect">
            <a:avLst/>
          </a:prstGeom>
          <a:solidFill>
            <a:srgbClr val="F1EFEA"/>
          </a:solidFill>
          <a:ln w="15875">
            <a:solidFill>
              <a:srgbClr val="B978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>
            <a:noAutofit/>
          </a:bodyPr>
          <a:lstStyle/>
          <a:p>
            <a:pPr algn="ctr">
              <a:lnSpc>
                <a:spcPct val="95000"/>
              </a:lnSpc>
            </a:pPr>
            <a:r>
              <a:rPr sz="1000" b="1" i="0">
                <a:solidFill>
                  <a:srgbClr val="1C1E22"/>
                </a:solidFill>
                <a:latin typeface="Consolas"/>
              </a:rPr>
              <a:t>failed_retry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5120640"/>
            <a:ext cx="2011680" cy="685800"/>
          </a:xfrm>
          <a:prstGeom prst="roundRect">
            <a:avLst/>
          </a:prstGeom>
          <a:solidFill>
            <a:srgbClr val="F2E0DC"/>
          </a:solidFill>
          <a:ln w="15875">
            <a:solidFill>
              <a:srgbClr val="A8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>
            <a:noAutofit/>
          </a:bodyPr>
          <a:lstStyle/>
          <a:p>
            <a:pPr algn="ctr">
              <a:lnSpc>
                <a:spcPct val="95000"/>
              </a:lnSpc>
            </a:pPr>
            <a:r>
              <a:rPr sz="1050" b="1" i="0">
                <a:solidFill>
                  <a:srgbClr val="1C1E22"/>
                </a:solidFill>
                <a:latin typeface="Consolas"/>
              </a:rPr>
              <a:t>escalated</a:t>
            </a:r>
          </a:p>
        </p:txBody>
      </p:sp>
      <p:cxnSp>
        <p:nvCxnSpPr>
          <p:cNvPr id="15" name="Connector 14"/>
          <p:cNvCxnSpPr>
            <a:stCxn id="10" idx="1"/>
            <a:endCxn id="11" idx="3"/>
          </p:cNvCxnSpPr>
          <p:nvPr/>
        </p:nvCxnSpPr>
        <p:spPr>
          <a:xfrm flipV="1">
            <a:off x="1280160" y="3634740"/>
            <a:ext cx="5212080" cy="0"/>
          </a:xfrm>
          <a:prstGeom prst="line">
            <a:avLst/>
          </a:prstGeom>
          <a:ln w="15875">
            <a:solidFill>
              <a:srgbClr val="5F636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70886" y="2948940"/>
            <a:ext cx="1830628" cy="27432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70886" y="2948940"/>
            <a:ext cx="1830628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0" i="1">
                <a:solidFill>
                  <a:srgbClr val="5F636B"/>
                </a:solidFill>
                <a:latin typeface="Calibri"/>
              </a:rPr>
              <a:t>claimNextJob (atomic)</a:t>
            </a:r>
          </a:p>
        </p:txBody>
      </p:sp>
      <p:cxnSp>
        <p:nvCxnSpPr>
          <p:cNvPr id="18" name="Connector 17"/>
          <p:cNvCxnSpPr>
            <a:stCxn id="11" idx="1"/>
            <a:endCxn id="12" idx="3"/>
          </p:cNvCxnSpPr>
          <p:nvPr/>
        </p:nvCxnSpPr>
        <p:spPr>
          <a:xfrm flipV="1">
            <a:off x="4663440" y="3634740"/>
            <a:ext cx="5394960" cy="0"/>
          </a:xfrm>
          <a:prstGeom prst="line">
            <a:avLst/>
          </a:prstGeom>
          <a:ln w="15875">
            <a:solidFill>
              <a:srgbClr val="5F636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6504128" y="2948940"/>
            <a:ext cx="1530705" cy="27432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04128" y="2948940"/>
            <a:ext cx="1530705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0" i="1">
                <a:solidFill>
                  <a:srgbClr val="5F636B"/>
                </a:solidFill>
                <a:latin typeface="Calibri"/>
              </a:rPr>
              <a:t>Validate succeeds</a:t>
            </a:r>
          </a:p>
        </p:txBody>
      </p:sp>
      <p:cxnSp>
        <p:nvCxnSpPr>
          <p:cNvPr id="21" name="Connector 20"/>
          <p:cNvCxnSpPr>
            <a:stCxn id="11" idx="0"/>
            <a:endCxn id="13" idx="2"/>
          </p:cNvCxnSpPr>
          <p:nvPr/>
        </p:nvCxnSpPr>
        <p:spPr>
          <a:xfrm flipV="1" flipH="1">
            <a:off x="5577840" y="2240280"/>
            <a:ext cx="0" cy="1051560"/>
          </a:xfrm>
          <a:prstGeom prst="bentConnector3">
            <a:avLst/>
          </a:prstGeom>
          <a:ln w="15875">
            <a:solidFill>
              <a:srgbClr val="5F636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4526280" y="2628900"/>
            <a:ext cx="2103120" cy="27432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80" y="2628900"/>
            <a:ext cx="21031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0" i="1">
                <a:solidFill>
                  <a:srgbClr val="5F636B"/>
                </a:solidFill>
                <a:latin typeface="Calibri"/>
              </a:rPr>
              <a:t>Validate fails, strikes ≤ 2</a:t>
            </a:r>
          </a:p>
        </p:txBody>
      </p:sp>
      <p:cxnSp>
        <p:nvCxnSpPr>
          <p:cNvPr id="24" name="Connector 23"/>
          <p:cNvCxnSpPr>
            <a:stCxn id="13" idx="2"/>
            <a:endCxn id="11" idx="0"/>
          </p:cNvCxnSpPr>
          <p:nvPr/>
        </p:nvCxnSpPr>
        <p:spPr>
          <a:xfrm flipH="1">
            <a:off x="5577840" y="2240280"/>
            <a:ext cx="0" cy="1051560"/>
          </a:xfrm>
          <a:prstGeom prst="bentConnector3">
            <a:avLst/>
          </a:prstGeom>
          <a:ln w="15875">
            <a:solidFill>
              <a:srgbClr val="5F636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6575451" y="2628900"/>
            <a:ext cx="930859" cy="27432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75451" y="2628900"/>
            <a:ext cx="930859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0" i="1">
                <a:solidFill>
                  <a:srgbClr val="5F636B"/>
                </a:solidFill>
                <a:latin typeface="Calibri"/>
              </a:rPr>
              <a:t>reclaimed</a:t>
            </a:r>
          </a:p>
        </p:txBody>
      </p:sp>
      <p:cxnSp>
        <p:nvCxnSpPr>
          <p:cNvPr id="27" name="Connector 26"/>
          <p:cNvCxnSpPr>
            <a:stCxn id="11" idx="2"/>
            <a:endCxn id="14" idx="0"/>
          </p:cNvCxnSpPr>
          <p:nvPr/>
        </p:nvCxnSpPr>
        <p:spPr>
          <a:xfrm>
            <a:off x="5577840" y="3977640"/>
            <a:ext cx="3474720" cy="1143000"/>
          </a:xfrm>
          <a:prstGeom prst="bentConnector3">
            <a:avLst/>
          </a:prstGeom>
          <a:ln w="15875">
            <a:solidFill>
              <a:srgbClr val="5F636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587338" y="4411980"/>
            <a:ext cx="1455724" cy="27432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7338" y="4411980"/>
            <a:ext cx="1455724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0" i="1">
                <a:solidFill>
                  <a:srgbClr val="5F636B"/>
                </a:solidFill>
                <a:latin typeface="Calibri"/>
              </a:rPr>
              <a:t>strikes exceeded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JOB STATUS — NOTES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C1E22"/>
                </a:solidFill>
                <a:latin typeface="Georgia"/>
              </a:rPr>
              <a:t>Two facts the diagram compresses away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92024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600" b="1" i="0">
                <a:solidFill>
                  <a:srgbClr val="1C1E22"/>
                </a:solidFill>
                <a:latin typeface="Calibri"/>
              </a:rPr>
              <a:t>The strike tolerance is a flat 2 — </a:t>
            </a:r>
            <a:r>
              <a:rPr sz="1600" b="0" i="0">
                <a:solidFill>
                  <a:srgbClr val="1C1E22"/>
                </a:solidFill>
                <a:latin typeface="Calibri"/>
              </a:rPr>
              <a:t>across every single verb, not tuned per verb (verbTolerance, queue.go:19). A verb with a harder job to get right doesn't get more slack than one with an easy job.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600" b="1" i="0">
                <a:solidFill>
                  <a:srgbClr val="1C1E22"/>
                </a:solidFill>
                <a:latin typeface="Calibri"/>
              </a:rPr>
              <a:t>failed_retry has two distinct causes that look identical from outside: </a:t>
            </a:r>
            <a:r>
              <a:rPr sz="1600" b="0" i="0">
                <a:solidFill>
                  <a:srgbClr val="1C1E22"/>
                </a:solidFill>
                <a:latin typeface="Calibri"/>
              </a:rPr>
              <a:t>a handler.Validate failure still under tolerance (drawn above), or the orchestrator restarting mid-job (resetStaleRunning) — the job wasn't wrong, the process just didn't finish. Both land a job back in the same queue, reclaimed the same way.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1C1E22"/>
                </a:solidFill>
                <a:latin typeface="Calibri"/>
              </a:rPr>
              <a:t>EXECUTE_BEAD is still the one exception to all of this — it never enters this generic path; its own supervised loop is Diagram 3.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STATE MACHINE REFERENCE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13 / 17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ESCALATION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000" b="1" i="0">
                <a:solidFill>
                  <a:srgbClr val="1C1E22"/>
                </a:solidFill>
                <a:latin typeface="Georgia"/>
              </a:rPr>
              <a:t>Every way a job reaches escalated, or a project full_stopped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783080"/>
          <a:ext cx="10881358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4607"/>
                <a:gridCol w="2571957"/>
                <a:gridCol w="5143915"/>
                <a:gridCol w="2670879"/>
              </a:tblGrid>
              <a:tr h="323556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onsolas"/>
                        </a:rPr>
                        <a:t>#</a:t>
                      </a:r>
                    </a:p>
                  </a:txBody>
                  <a:tcPr marL="73152" marT="36576" marB="36576" anchor="ctr">
                    <a:solidFill>
                      <a:srgbClr val="1C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onsolas"/>
                        </a:rPr>
                        <a:t>Where</a:t>
                      </a:r>
                    </a:p>
                  </a:txBody>
                  <a:tcPr marL="73152" marT="36576" marB="36576" anchor="ctr">
                    <a:solidFill>
                      <a:srgbClr val="1C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onsolas"/>
                        </a:rPr>
                        <a:t>Trigger</a:t>
                      </a:r>
                    </a:p>
                  </a:txBody>
                  <a:tcPr marL="73152" marT="36576" marB="36576" anchor="ctr">
                    <a:solidFill>
                      <a:srgbClr val="1C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onsolas"/>
                        </a:rPr>
                        <a:t>Result</a:t>
                      </a:r>
                    </a:p>
                  </a:txBody>
                  <a:tcPr marL="73152" marT="36576" marB="36576" anchor="ctr">
                    <a:solidFill>
                      <a:srgbClr val="1C1E22"/>
                    </a:solidFill>
                  </a:tcPr>
                </a:tc>
              </a:tr>
              <a:tr h="323556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1C1E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C1E22"/>
                          </a:solidFill>
                          <a:latin typeface="Calibri"/>
                        </a:rPr>
                        <a:t>RECONCILE_DECOMPOSITION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C1E22"/>
                          </a:solidFill>
                          <a:latin typeface="Calibri"/>
                        </a:rPr>
                        <a:t>audit/reconcile round cap hit, unresolved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C1E22"/>
                          </a:solidFill>
                          <a:latin typeface="Calibri"/>
                        </a:rPr>
                        <a:t>job escalated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</a:tr>
              <a:tr h="323556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1C1E2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T="27432" marB="27432" anchor="ctr">
                    <a:solidFill>
                      <a:srgbClr val="F1EF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C1E22"/>
                          </a:solidFill>
                          <a:latin typeface="Calibri"/>
                        </a:rPr>
                        <a:t>CERTIFY_MANIFEST</a:t>
                      </a:r>
                    </a:p>
                  </a:txBody>
                  <a:tcPr marL="73152" marT="27432" marB="27432" anchor="ctr">
                    <a:solidFill>
                      <a:srgbClr val="F1EF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C1E22"/>
                          </a:solidFill>
                          <a:latin typeface="Calibri"/>
                        </a:rPr>
                        <a:t>5 total rejections</a:t>
                      </a:r>
                    </a:p>
                  </a:txBody>
                  <a:tcPr marL="73152" marT="27432" marB="27432" anchor="ctr">
                    <a:solidFill>
                      <a:srgbClr val="F1EF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C1E22"/>
                          </a:solidFill>
                          <a:latin typeface="Calibri"/>
                        </a:rPr>
                        <a:t>project full_stopped</a:t>
                      </a:r>
                    </a:p>
                  </a:txBody>
                  <a:tcPr marL="73152" marT="27432" marB="27432" anchor="ctr">
                    <a:solidFill>
                      <a:srgbClr val="F1EFEA"/>
                    </a:solidFill>
                  </a:tcPr>
                </a:tc>
              </a:tr>
              <a:tr h="323556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1C1E2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C1E22"/>
                          </a:solidFill>
                          <a:latin typeface="Calibri"/>
                        </a:rPr>
                        <a:t>REFINE_TESTS_WRITE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C1E22"/>
                          </a:solidFill>
                          <a:latin typeface="Calibri"/>
                        </a:rPr>
                        <a:t>test won't compile after retries, or a required test fn is never written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C1E22"/>
                          </a:solidFill>
                          <a:latin typeface="Calibri"/>
                        </a:rPr>
                        <a:t>job escalated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</a:tr>
              <a:tr h="323556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1C1E2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T="27432" marB="27432" anchor="ctr">
                    <a:solidFill>
                      <a:srgbClr val="F1EF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C1E22"/>
                          </a:solidFill>
                          <a:latin typeface="Calibri"/>
                        </a:rPr>
                        <a:t>REFINE_TESTS_JUDGE</a:t>
                      </a:r>
                    </a:p>
                  </a:txBody>
                  <a:tcPr marL="73152" marT="27432" marB="27432" anchor="ctr">
                    <a:solidFill>
                      <a:srgbClr val="F1EF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C1E22"/>
                          </a:solidFill>
                          <a:latin typeface="Calibri"/>
                        </a:rPr>
                        <a:t>revise requested past refinementCycleCap (5)</a:t>
                      </a:r>
                    </a:p>
                  </a:txBody>
                  <a:tcPr marL="73152" marT="27432" marB="27432" anchor="ctr">
                    <a:solidFill>
                      <a:srgbClr val="F1EF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C1E22"/>
                          </a:solidFill>
                          <a:latin typeface="Calibri"/>
                        </a:rPr>
                        <a:t>job escalated</a:t>
                      </a:r>
                    </a:p>
                  </a:txBody>
                  <a:tcPr marL="73152" marT="27432" marB="27432" anchor="ctr">
                    <a:solidFill>
                      <a:srgbClr val="F1EFEA"/>
                    </a:solidFill>
                  </a:tcPr>
                </a:tc>
              </a:tr>
              <a:tr h="323556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1C1E22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C1E22"/>
                          </a:solidFill>
                          <a:latin typeface="Calibri"/>
                        </a:rPr>
                        <a:t>EXECUTE_BEAD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C1E22"/>
                          </a:solidFill>
                          <a:latin typeface="Calibri"/>
                        </a:rPr>
                        <a:t>infraFailureCap (3) consecutive startup crashes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C1E22"/>
                          </a:solidFill>
                          <a:latin typeface="Calibri"/>
                        </a:rPr>
                        <a:t>job escalated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</a:tr>
              <a:tr h="323556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1C1E22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T="27432" marB="27432" anchor="ctr">
                    <a:solidFill>
                      <a:srgbClr val="F1EF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C1E22"/>
                          </a:solidFill>
                          <a:latin typeface="Calibri"/>
                        </a:rPr>
                        <a:t>ADJUDICATE_NEXT_EXECUTION</a:t>
                      </a:r>
                    </a:p>
                  </a:txBody>
                  <a:tcPr marL="73152" marT="27432" marB="27432" anchor="ctr">
                    <a:solidFill>
                      <a:srgbClr val="F1EF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C1E22"/>
                          </a:solidFill>
                          <a:latin typeface="Calibri"/>
                        </a:rPr>
                        <a:t>execute_as_is/revised/test_reject/declare_success gate fail, at max_execution_attempts</a:t>
                      </a:r>
                    </a:p>
                  </a:txBody>
                  <a:tcPr marL="73152" marT="27432" marB="27432" anchor="ctr">
                    <a:solidFill>
                      <a:srgbClr val="F1EF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C1E22"/>
                          </a:solidFill>
                          <a:latin typeface="Calibri"/>
                        </a:rPr>
                        <a:t>job escalated</a:t>
                      </a:r>
                    </a:p>
                  </a:txBody>
                  <a:tcPr marL="73152" marT="27432" marB="27432" anchor="ctr">
                    <a:solidFill>
                      <a:srgbClr val="F1EFEA"/>
                    </a:solidFill>
                  </a:tcPr>
                </a:tc>
              </a:tr>
              <a:tr h="323556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1C1E22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C1E22"/>
                          </a:solidFill>
                          <a:latin typeface="Calibri"/>
                        </a:rPr>
                        <a:t>ADJUDICATE_NEXT_EXECUTION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C1E22"/>
                          </a:solidFill>
                          <a:latin typeface="Calibri"/>
                        </a:rPr>
                        <a:t>re_refine past refinementCycleCap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C1E22"/>
                          </a:solidFill>
                          <a:latin typeface="Calibri"/>
                        </a:rPr>
                        <a:t>job escalated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</a:tr>
              <a:tr h="323556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1C1E22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T="27432" marB="27432" anchor="ctr">
                    <a:solidFill>
                      <a:srgbClr val="F1EF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C1E22"/>
                          </a:solidFill>
                          <a:latin typeface="Calibri"/>
                        </a:rPr>
                        <a:t>ADJUDICATE_NEXT_EXECUTION</a:t>
                      </a:r>
                    </a:p>
                  </a:txBody>
                  <a:tcPr marL="73152" marT="27432" marB="27432" anchor="ctr">
                    <a:solidFill>
                      <a:srgbClr val="F1EF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C1E22"/>
                          </a:solidFill>
                          <a:latin typeface="Calibri"/>
                        </a:rPr>
                        <a:t>2 consecutive stalled terminations</a:t>
                      </a:r>
                    </a:p>
                  </a:txBody>
                  <a:tcPr marL="73152" marT="27432" marB="27432" anchor="ctr">
                    <a:solidFill>
                      <a:srgbClr val="F1EF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C1E22"/>
                          </a:solidFill>
                          <a:latin typeface="Calibri"/>
                        </a:rPr>
                        <a:t>job escalated (tagged EXECUTE-ceiling if ≥2 prior execute_revised)</a:t>
                      </a:r>
                    </a:p>
                  </a:txBody>
                  <a:tcPr marL="73152" marT="27432" marB="27432" anchor="ctr">
                    <a:solidFill>
                      <a:srgbClr val="F1EFEA"/>
                    </a:solidFill>
                  </a:tcPr>
                </a:tc>
              </a:tr>
              <a:tr h="323556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1C1E22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C1E22"/>
                          </a:solidFill>
                          <a:latin typeface="Calibri"/>
                        </a:rPr>
                        <a:t>ADJUDICATE_NEXT_EXECUTION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C1E22"/>
                          </a:solidFill>
                          <a:latin typeface="Calibri"/>
                        </a:rPr>
                        <a:t>2 consecutive timeout terminations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C1E22"/>
                          </a:solidFill>
                          <a:latin typeface="Calibri"/>
                        </a:rPr>
                        <a:t>job escalated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</a:tr>
              <a:tr h="323556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1C1E22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73152" marT="27432" marB="27432" anchor="ctr">
                    <a:solidFill>
                      <a:srgbClr val="F1EF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C1E22"/>
                          </a:solidFill>
                          <a:latin typeface="Calibri"/>
                        </a:rPr>
                        <a:t>any verb (generic)</a:t>
                      </a:r>
                    </a:p>
                  </a:txBody>
                  <a:tcPr marL="73152" marT="27432" marB="27432" anchor="ctr">
                    <a:solidFill>
                      <a:srgbClr val="F1EF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C1E22"/>
                          </a:solidFill>
                          <a:latin typeface="Calibri"/>
                        </a:rPr>
                        <a:t>strikes exceed flat tolerance of 2</a:t>
                      </a:r>
                    </a:p>
                  </a:txBody>
                  <a:tcPr marL="73152" marT="27432" marB="27432" anchor="ctr">
                    <a:solidFill>
                      <a:srgbClr val="F1EF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C1E22"/>
                          </a:solidFill>
                          <a:latin typeface="Calibri"/>
                        </a:rPr>
                        <a:t>job escalated</a:t>
                      </a:r>
                    </a:p>
                  </a:txBody>
                  <a:tcPr marL="73152" marT="27432" marB="27432" anchor="ctr">
                    <a:solidFill>
                      <a:srgbClr val="F1EFEA"/>
                    </a:solidFill>
                  </a:tcPr>
                </a:tc>
              </a:tr>
              <a:tr h="323556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1C1E22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C1E22"/>
                          </a:solidFill>
                          <a:latin typeface="Calibri"/>
                        </a:rPr>
                        <a:t>DECOMPOSE_SPEC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C1E22"/>
                          </a:solidFill>
                          <a:latin typeface="Calibri"/>
                        </a:rPr>
                        <a:t>ordering/reference/merge-drop violation past redecomposeCap (3)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C1E22"/>
                          </a:solidFill>
                          <a:latin typeface="Calibri"/>
                        </a:rPr>
                        <a:t>project full_stopped</a:t>
                      </a:r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</a:tr>
              <a:tr h="323568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1C1E22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73152" marT="27432" marB="27432" anchor="ctr">
                    <a:solidFill>
                      <a:srgbClr val="F1EF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C1E22"/>
                          </a:solidFill>
                          <a:latin typeface="Calibri"/>
                        </a:rPr>
                        <a:t>RECONCILE_DECOMPOSITION</a:t>
                      </a:r>
                    </a:p>
                  </a:txBody>
                  <a:tcPr marL="73152" marT="27432" marB="27432" anchor="ctr">
                    <a:solidFill>
                      <a:srgbClr val="F1EF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C1E22"/>
                          </a:solidFill>
                          <a:latin typeface="Calibri"/>
                        </a:rPr>
                        <a:t>own fix reintroduces a violation past reconcileRejectCap (3)</a:t>
                      </a:r>
                    </a:p>
                  </a:txBody>
                  <a:tcPr marL="73152" marT="27432" marB="27432" anchor="ctr">
                    <a:solidFill>
                      <a:srgbClr val="F1EF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C1E22"/>
                          </a:solidFill>
                          <a:latin typeface="Calibri"/>
                        </a:rPr>
                        <a:t>job escalated</a:t>
                      </a:r>
                    </a:p>
                  </a:txBody>
                  <a:tcPr marL="73152" marT="27432" marB="27432" anchor="ctr">
                    <a:solidFill>
                      <a:srgbClr val="F1EFE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STATE MACHINE REFERENCE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14 / 17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CASCADE ITERATIONS (LOOP-MODE)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3200" b="1" i="0">
                <a:solidFill>
                  <a:srgbClr val="1C1E22"/>
                </a:solidFill>
                <a:latin typeface="Georgia"/>
              </a:rPr>
              <a:t>clone-project --design-doc &lt;new.md&gt;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965960"/>
            <a:ext cx="10881360" cy="4251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5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350" b="0" i="0">
                <a:solidFill>
                  <a:srgbClr val="1C1E22"/>
                </a:solidFill>
                <a:latin typeface="Calibri"/>
              </a:rPr>
              <a:t>Creates a new project in the same lineage, inheriting the baseline's beads, bead_revisions, and full execution/adjudication history — then overwrites the design doc and sets cascade_baseline_project_id.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5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350" b="0" i="0">
                <a:solidFill>
                  <a:srgbClr val="1C1E22"/>
                </a:solidFill>
                <a:latin typeface="Calibri"/>
              </a:rPr>
              <a:t>One fresh AUDIT_DECOMPOSITION is enqueued. SURVEY_SPEC and DECOMPOSE_SPEC never run — the inherited beads ARE the decomposition. RECONCILE may not rename, add, or remove beads, so titles stay stable across the clone boundary.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5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350" b="1" i="0">
                <a:solidFill>
                  <a:srgbClr val="1C1E22"/>
                </a:solidFill>
                <a:latin typeface="Calibri"/>
              </a:rPr>
              <a:t>Every changed bead — </a:t>
            </a:r>
            <a:r>
              <a:rPr sz="1350" b="0" i="0">
                <a:solidFill>
                  <a:srgbClr val="1C1E22"/>
                </a:solidFill>
                <a:latin typeface="Calibri"/>
              </a:rPr>
              <a:t>spec differs from baseline, by title, deliberately liberal comparison — gets reset by resetBeadForRerun, even if already succeeded: active jobs cancelled, test files deleted, impl reset to stubs, pre-reset files snapshotted first.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5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350" b="0" i="0">
                <a:solidFill>
                  <a:srgbClr val="1C1E22"/>
                </a:solidFill>
                <a:latin typeface="Calibri"/>
              </a:rPr>
              <a:t>Unchanged beads are left exactly as cloned — status, files, history untouched.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5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350" b="0" i="0">
                <a:solidFill>
                  <a:srgbClr val="1C1E22"/>
                </a:solidFill>
                <a:latin typeface="Calibri"/>
              </a:rPr>
              <a:t>≥1 changed bead: lowest-id changed bead's execution is enqueued. Zero changed: project marked complete directly, no pause, nothing to resume into.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STATE MACHINE REFERENCE</a:t>
            </a:r>
          </a:p>
          <a:p/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15 / 17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3D6D7E"/>
                </a:solidFill>
                <a:latin typeface="Consolas"/>
              </a:rPr>
              <a:t>RECOVERY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2800" b="1" i="0">
                <a:solidFill>
                  <a:srgbClr val="1C1E22"/>
                </a:solidFill>
                <a:latin typeface="Georgia"/>
              </a:rPr>
              <a:t>Four ways a human intervenes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96596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1" i="0">
                <a:solidFill>
                  <a:srgbClr val="3D6D7E"/>
                </a:solidFill>
                <a:latin typeface="Consolas"/>
              </a:rPr>
              <a:t>PER-BEAD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23160"/>
            <a:ext cx="5212080" cy="374903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600" b="1" i="0">
                <a:solidFill>
                  <a:srgbClr val="1C1E22"/>
                </a:solidFill>
                <a:latin typeface="Calibri"/>
              </a:rPr>
              <a:t>rewind-bead — </a:t>
            </a:r>
            <a:r>
              <a:rPr sz="1600" b="0" i="0">
                <a:solidFill>
                  <a:srgbClr val="1C1E22"/>
                </a:solidFill>
                <a:latin typeface="Calibri"/>
              </a:rPr>
              <a:t>the sanctioned path for any per-bead escalation. Resets to REFINE_TESTS_WRITE cycle 1, stubs impl files, fresh attempt budget. Always discards whatever implementation exists on disk. Refuses a succeeded bead.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600" b="1" i="0">
                <a:solidFill>
                  <a:srgbClr val="1C1E22"/>
                </a:solidFill>
                <a:latin typeface="Calibri"/>
              </a:rPr>
              <a:t>Requeue (UI) — </a:t>
            </a:r>
            <a:r>
              <a:rPr sz="1600" b="0" i="0">
                <a:solidFill>
                  <a:srgbClr val="1C1E22"/>
                </a:solidFill>
                <a:latin typeface="Calibri"/>
              </a:rPr>
              <a:t>try the exact same job again. Useful for transient failures, not a spec problem.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96596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1" i="0">
                <a:solidFill>
                  <a:srgbClr val="3D6D7E"/>
                </a:solidFill>
                <a:latin typeface="Consolas"/>
              </a:rPr>
              <a:t>PROJECT-LEVEL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423160"/>
            <a:ext cx="5212080" cy="374903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600" b="1" i="0">
                <a:solidFill>
                  <a:srgbClr val="1C1E22"/>
                </a:solidFill>
                <a:latin typeface="Calibri"/>
              </a:rPr>
              <a:t>resume-project — </a:t>
            </a:r>
            <a:r>
              <a:rPr sz="1600" b="0" i="0">
                <a:solidFill>
                  <a:srgbClr val="1C1E22"/>
                </a:solidFill>
                <a:latin typeface="Calibri"/>
              </a:rPr>
              <a:t>pure status flip; only ever re-dispatches bead 1, or for a cascade project, re-enters at DECOMPOSITION_APPROVED.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600" b="1" i="0">
                <a:solidFill>
                  <a:srgbClr val="1C1E22"/>
                </a:solidFill>
                <a:latin typeface="Calibri"/>
              </a:rPr>
              <a:t>full-stop-project — </a:t>
            </a:r>
            <a:r>
              <a:rPr sz="1600" b="0" i="0">
                <a:solidFill>
                  <a:srgbClr val="1C1E22"/>
                </a:solidFill>
                <a:latin typeface="Calibri"/>
              </a:rPr>
              <a:t>the manual equivalent of a project-wide escalation.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 i="0">
                <a:solidFill>
                  <a:srgbClr val="3D6D7E"/>
                </a:solidFill>
                <a:latin typeface="Calibri"/>
              </a:rPr>
              <a:t>—  </a:t>
            </a:r>
            <a:r>
              <a:rPr sz="1600" b="1" i="0">
                <a:solidFill>
                  <a:srgbClr val="1C1E22"/>
                </a:solidFill>
                <a:latin typeface="Calibri"/>
              </a:rPr>
              <a:t>Never: </a:t>
            </a:r>
            <a:r>
              <a:rPr sz="1600" b="0" i="0">
                <a:solidFill>
                  <a:srgbClr val="1C1E22"/>
                </a:solidFill>
                <a:latin typeface="Calibri"/>
              </a:rPr>
              <a:t>hand-editing the database, or patching a test to force it green — convention, not code, but held.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35040" y="1965960"/>
            <a:ext cx="0" cy="425196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5F636B"/>
                </a:solidFill>
                <a:latin typeface="Consolas"/>
              </a:rPr>
              <a:t>RATCHET · STATE MACHINE REFERENCE</a:t>
            </a:r>
          </a:p>
          <a:p/>
        </p:txBody>
      </p:sp>
      <p:sp>
        <p:nvSpPr>
          <p:cNvPr id="12" name="TextBox 11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5F636B"/>
                </a:solidFill>
                <a:latin typeface="Consolas"/>
              </a:rPr>
              <a:t>16 / 17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12700">
            <a:solidFill>
              <a:srgbClr val="E2E0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00" b="1" i="0">
                <a:solidFill>
                  <a:srgbClr val="9AC7D3"/>
                </a:solidFill>
                <a:latin typeface="Consolas"/>
              </a:rPr>
              <a:t>SOURCE OF TRUTH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33272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Consolas"/>
              </a:rPr>
              <a:t>docs/ratchet_state_machine.md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246120"/>
            <a:ext cx="9692640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35000"/>
              </a:lnSpc>
            </a:pPr>
            <a:r>
              <a:rPr sz="1600" b="0" i="0">
                <a:solidFill>
                  <a:srgbClr val="C9CDD2"/>
                </a:solidFill>
                <a:latin typeface="Calibri"/>
              </a:rPr>
              <a:t>This deck is a presentable view of that file, not a replacement for it — regenerated the same way its four PNGs are: scripts/build-state-machine-pdf.sh renders the Mermaid source via mermaid-cli; this deck is built straight from the same facts via scripts/build-state-machine-pptx.py. When the .md changes, re-run both.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000" b="0" i="0">
                <a:solidFill>
                  <a:srgbClr val="6B7077"/>
                </a:solidFill>
                <a:latin typeface="Consolas"/>
              </a:rPr>
              <a:t>RATCHET · STATE MACHINE REFERENCE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6B7077"/>
                </a:solidFill>
                <a:latin typeface="Consolas"/>
              </a:rPr>
              <a:t>17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