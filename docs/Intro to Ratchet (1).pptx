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Albert Sans Black"/>
      <p:bold r:id="rId30"/>
      <p:boldItalic r:id="rId31"/>
    </p:embeddedFont>
    <p:embeddedFont>
      <p:font typeface="Albert Sans"/>
      <p:regular r:id="rId32"/>
      <p:bold r:id="rId33"/>
      <p:italic r:id="rId34"/>
      <p:boldItalic r:id="rId35"/>
    </p:embeddedFont>
    <p:embeddedFont>
      <p:font typeface="Sora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lbertSansBlack-boldItalic.fntdata"/><Relationship Id="rId30" Type="http://schemas.openxmlformats.org/officeDocument/2006/relationships/font" Target="fonts/AlbertSansBlack-bold.fntdata"/><Relationship Id="rId11" Type="http://schemas.openxmlformats.org/officeDocument/2006/relationships/slide" Target="slides/slide6.xml"/><Relationship Id="rId33" Type="http://schemas.openxmlformats.org/officeDocument/2006/relationships/font" Target="fonts/AlbertSans-bold.fntdata"/><Relationship Id="rId10" Type="http://schemas.openxmlformats.org/officeDocument/2006/relationships/slide" Target="slides/slide5.xml"/><Relationship Id="rId32" Type="http://schemas.openxmlformats.org/officeDocument/2006/relationships/font" Target="fonts/AlbertSans-regular.fntdata"/><Relationship Id="rId13" Type="http://schemas.openxmlformats.org/officeDocument/2006/relationships/slide" Target="slides/slide8.xml"/><Relationship Id="rId35" Type="http://schemas.openxmlformats.org/officeDocument/2006/relationships/font" Target="fonts/AlbertSans-boldItalic.fntdata"/><Relationship Id="rId12" Type="http://schemas.openxmlformats.org/officeDocument/2006/relationships/slide" Target="slides/slide7.xml"/><Relationship Id="rId34" Type="http://schemas.openxmlformats.org/officeDocument/2006/relationships/font" Target="fonts/AlbertSans-italic.fntdata"/><Relationship Id="rId15" Type="http://schemas.openxmlformats.org/officeDocument/2006/relationships/slide" Target="slides/slide10.xml"/><Relationship Id="rId37" Type="http://schemas.openxmlformats.org/officeDocument/2006/relationships/font" Target="fonts/Sora-bold.fntdata"/><Relationship Id="rId14" Type="http://schemas.openxmlformats.org/officeDocument/2006/relationships/slide" Target="slides/slide9.xml"/><Relationship Id="rId36" Type="http://schemas.openxmlformats.org/officeDocument/2006/relationships/font" Target="fonts/Sora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cb6c8f0578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cb6c8f0578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cb6c8f0578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cb6c8f0578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cb6c8f057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cb6c8f057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cb6c8f0578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cb6c8f0578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cb6c8f0578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cb6c8f0578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cb6c8f0578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cb6c8f0578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b757309a9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b757309a9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b757309a9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b757309a9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b757309a9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fb757309a9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b757309a9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b757309a9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b87f51a6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fb87f51a6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b87f51a6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fb87f51a6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b87f51a6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b87f51a6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b757309a9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fb757309a9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b757309a9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fb757309a9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b87f51a6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fb87f51a6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b87f51a6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fb87f51a6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b87f51a63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fb87f51a63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b87f51a6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fb87f51a6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b87f51a6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fb87f51a6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b87f51a6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fb87f51a6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b87f51a6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fb87f51a6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b87f51a6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fb87f51a6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685800" y="1523800"/>
            <a:ext cx="5544300" cy="16050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685800" y="3165800"/>
            <a:ext cx="5295900" cy="45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1477" y="320040"/>
            <a:ext cx="965975" cy="96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4">
            <a:alphaModFix/>
          </a:blip>
          <a:srcRect b="0" l="100" r="100" t="0"/>
          <a:stretch/>
        </p:blipFill>
        <p:spPr>
          <a:xfrm>
            <a:off x="6668299" y="4177623"/>
            <a:ext cx="2169149" cy="51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/>
          </a:blip>
          <a:srcRect b="768" l="932" r="932" t="768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1477" y="320040"/>
            <a:ext cx="965975" cy="96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 rotWithShape="1">
          <a:blip r:embed="rId5">
            <a:alphaModFix/>
          </a:blip>
          <a:srcRect b="0" l="100" r="100" t="0"/>
          <a:stretch/>
        </p:blipFill>
        <p:spPr>
          <a:xfrm>
            <a:off x="6668299" y="4177623"/>
            <a:ext cx="2169149" cy="51897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1523800"/>
            <a:ext cx="5544300" cy="16050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685800" y="3165800"/>
            <a:ext cx="5295900" cy="45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>
            <p:ph idx="2" type="pic"/>
          </p:nvPr>
        </p:nvSpPr>
        <p:spPr>
          <a:xfrm>
            <a:off x="5235825" y="79500"/>
            <a:ext cx="3824400" cy="47913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685800" y="1392054"/>
            <a:ext cx="3824400" cy="1761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4"/>
          <p:cNvSpPr txBox="1"/>
          <p:nvPr>
            <p:ph idx="1" type="subTitle"/>
          </p:nvPr>
        </p:nvSpPr>
        <p:spPr>
          <a:xfrm>
            <a:off x="685800" y="3297550"/>
            <a:ext cx="3597000" cy="45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26" name="Google Shape;2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2984" y="316925"/>
            <a:ext cx="965975" cy="96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59990"/>
            <a:ext cx="9143998" cy="186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 slide">
  <p:cSld name="SECTION_HEADER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925400" y="2832057"/>
            <a:ext cx="2104200" cy="548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1246250" y="3594182"/>
            <a:ext cx="1462500" cy="45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5"/>
          <p:cNvSpPr/>
          <p:nvPr>
            <p:ph idx="2" type="pic"/>
          </p:nvPr>
        </p:nvSpPr>
        <p:spPr>
          <a:xfrm>
            <a:off x="1173200" y="945824"/>
            <a:ext cx="1608600" cy="1608600"/>
          </a:xfrm>
          <a:prstGeom prst="rect">
            <a:avLst/>
          </a:prstGeom>
          <a:noFill/>
          <a:ln>
            <a:noFill/>
          </a:ln>
        </p:spPr>
      </p:sp>
      <p:pic>
        <p:nvPicPr>
          <p:cNvPr id="32" name="Google Shape;3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2984" y="316925"/>
            <a:ext cx="965975" cy="96597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/>
          <p:cNvSpPr txBox="1"/>
          <p:nvPr>
            <p:ph idx="3" type="title"/>
          </p:nvPr>
        </p:nvSpPr>
        <p:spPr>
          <a:xfrm>
            <a:off x="3519900" y="2832057"/>
            <a:ext cx="2104200" cy="548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" name="Google Shape;34;p5"/>
          <p:cNvSpPr txBox="1"/>
          <p:nvPr>
            <p:ph idx="4" type="subTitle"/>
          </p:nvPr>
        </p:nvSpPr>
        <p:spPr>
          <a:xfrm>
            <a:off x="3840750" y="3594182"/>
            <a:ext cx="1462500" cy="45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/>
          <p:nvPr>
            <p:ph idx="5" type="pic"/>
          </p:nvPr>
        </p:nvSpPr>
        <p:spPr>
          <a:xfrm>
            <a:off x="3767700" y="945824"/>
            <a:ext cx="1608600" cy="16086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5"/>
          <p:cNvSpPr txBox="1"/>
          <p:nvPr>
            <p:ph idx="6" type="title"/>
          </p:nvPr>
        </p:nvSpPr>
        <p:spPr>
          <a:xfrm>
            <a:off x="6362200" y="2832057"/>
            <a:ext cx="2104200" cy="548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7" name="Google Shape;37;p5"/>
          <p:cNvSpPr txBox="1"/>
          <p:nvPr>
            <p:ph idx="7" type="subTitle"/>
          </p:nvPr>
        </p:nvSpPr>
        <p:spPr>
          <a:xfrm>
            <a:off x="6683050" y="3594182"/>
            <a:ext cx="1462500" cy="45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5"/>
          <p:cNvSpPr/>
          <p:nvPr>
            <p:ph idx="8" type="pic"/>
          </p:nvPr>
        </p:nvSpPr>
        <p:spPr>
          <a:xfrm>
            <a:off x="6610000" y="945824"/>
            <a:ext cx="1608600" cy="1608600"/>
          </a:xfrm>
          <a:prstGeom prst="rect">
            <a:avLst/>
          </a:prstGeom>
          <a:noFill/>
          <a:ln>
            <a:noFill/>
          </a:ln>
        </p:spPr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59990"/>
            <a:ext cx="9143998" cy="186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31062" y="320050"/>
            <a:ext cx="6780300" cy="57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31062" y="1016425"/>
            <a:ext cx="7810200" cy="30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43" name="Google Shape;4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2984" y="320040"/>
            <a:ext cx="965975" cy="96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1750" y="4524585"/>
            <a:ext cx="1327201" cy="2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59990"/>
            <a:ext cx="9143998" cy="186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idx="1" type="body"/>
          </p:nvPr>
        </p:nvSpPr>
        <p:spPr>
          <a:xfrm>
            <a:off x="431050" y="1152475"/>
            <a:ext cx="3880500" cy="29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2984" y="320040"/>
            <a:ext cx="965975" cy="9659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 txBox="1"/>
          <p:nvPr>
            <p:ph type="title"/>
          </p:nvPr>
        </p:nvSpPr>
        <p:spPr>
          <a:xfrm>
            <a:off x="431062" y="320050"/>
            <a:ext cx="6780300" cy="57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" name="Google Shape;5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1750" y="4524585"/>
            <a:ext cx="1327201" cy="2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59990"/>
            <a:ext cx="9143998" cy="18662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2" type="body"/>
          </p:nvPr>
        </p:nvSpPr>
        <p:spPr>
          <a:xfrm>
            <a:off x="4610700" y="1115238"/>
            <a:ext cx="3880500" cy="29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2984" y="320040"/>
            <a:ext cx="965975" cy="9659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/>
          <p:nvPr>
            <p:ph type="title"/>
          </p:nvPr>
        </p:nvSpPr>
        <p:spPr>
          <a:xfrm>
            <a:off x="431062" y="320050"/>
            <a:ext cx="6780300" cy="57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" name="Google Shape;5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1750" y="4524585"/>
            <a:ext cx="1327201" cy="2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59990"/>
            <a:ext cx="9143998" cy="186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ONLY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2984" y="320040"/>
            <a:ext cx="965975" cy="96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59990"/>
            <a:ext cx="9143998" cy="186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no arrows)">
  <p:cSld name="TITLE_ONLY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59990"/>
            <a:ext cx="9143998" cy="186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490250" y="705919"/>
            <a:ext cx="6367800" cy="35733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65" name="Google Shape;6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2984" y="316925"/>
            <a:ext cx="965975" cy="96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1750" y="4524585"/>
            <a:ext cx="1327201" cy="24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59990"/>
            <a:ext cx="9143998" cy="186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/>
          <p:nvPr/>
        </p:nvSpPr>
        <p:spPr>
          <a:xfrm>
            <a:off x="6166075" y="-7200"/>
            <a:ext cx="2977800" cy="515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0" name="Google Shape;70;p12"/>
          <p:cNvSpPr/>
          <p:nvPr>
            <p:ph idx="2" type="pic"/>
          </p:nvPr>
        </p:nvSpPr>
        <p:spPr>
          <a:xfrm>
            <a:off x="316950" y="316925"/>
            <a:ext cx="5537400" cy="21744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2"/>
          <p:cNvSpPr txBox="1"/>
          <p:nvPr>
            <p:ph type="title"/>
          </p:nvPr>
        </p:nvSpPr>
        <p:spPr>
          <a:xfrm>
            <a:off x="316950" y="2949575"/>
            <a:ext cx="5537400" cy="841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" name="Google Shape;72;p12"/>
          <p:cNvSpPr txBox="1"/>
          <p:nvPr>
            <p:ph idx="1" type="subTitle"/>
          </p:nvPr>
        </p:nvSpPr>
        <p:spPr>
          <a:xfrm>
            <a:off x="316950" y="4022163"/>
            <a:ext cx="5537400" cy="45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12"/>
          <p:cNvSpPr txBox="1"/>
          <p:nvPr>
            <p:ph idx="3" type="title"/>
          </p:nvPr>
        </p:nvSpPr>
        <p:spPr>
          <a:xfrm>
            <a:off x="6555775" y="1758600"/>
            <a:ext cx="2198400" cy="1265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4" type="subTitle"/>
          </p:nvPr>
        </p:nvSpPr>
        <p:spPr>
          <a:xfrm>
            <a:off x="6555775" y="3179000"/>
            <a:ext cx="1731900" cy="45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5" name="Google Shape;7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2984" y="316925"/>
            <a:ext cx="965975" cy="96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2">
  <p:cSld name="SECTION_TITLE_AND_DESCRIPTION_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/>
          <p:nvPr/>
        </p:nvSpPr>
        <p:spPr>
          <a:xfrm>
            <a:off x="6166075" y="-7200"/>
            <a:ext cx="2977800" cy="515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78" name="Google Shape;78;p13"/>
          <p:cNvSpPr/>
          <p:nvPr>
            <p:ph idx="2" type="pic"/>
          </p:nvPr>
        </p:nvSpPr>
        <p:spPr>
          <a:xfrm>
            <a:off x="316950" y="316925"/>
            <a:ext cx="5537400" cy="2174400"/>
          </a:xfrm>
          <a:prstGeom prst="rect">
            <a:avLst/>
          </a:prstGeom>
          <a:noFill/>
          <a:ln>
            <a:noFill/>
          </a:ln>
        </p:spPr>
      </p:sp>
      <p:pic>
        <p:nvPicPr>
          <p:cNvPr id="79" name="Google Shape;7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2984" y="316925"/>
            <a:ext cx="965975" cy="9659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3"/>
          <p:cNvSpPr txBox="1"/>
          <p:nvPr>
            <p:ph type="title"/>
          </p:nvPr>
        </p:nvSpPr>
        <p:spPr>
          <a:xfrm>
            <a:off x="316950" y="2949575"/>
            <a:ext cx="5537400" cy="841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1" name="Google Shape;81;p13"/>
          <p:cNvSpPr txBox="1"/>
          <p:nvPr>
            <p:ph idx="1" type="subTitle"/>
          </p:nvPr>
        </p:nvSpPr>
        <p:spPr>
          <a:xfrm>
            <a:off x="316950" y="4022163"/>
            <a:ext cx="5537400" cy="45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idx="3" type="title"/>
          </p:nvPr>
        </p:nvSpPr>
        <p:spPr>
          <a:xfrm>
            <a:off x="6555775" y="1758600"/>
            <a:ext cx="2198400" cy="1265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4" type="subTitle"/>
          </p:nvPr>
        </p:nvSpPr>
        <p:spPr>
          <a:xfrm>
            <a:off x="6555775" y="3179000"/>
            <a:ext cx="1731900" cy="45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3">
  <p:cSld name="SECTION_TITLE_AND_DESCRIPTION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/>
          <p:nvPr/>
        </p:nvSpPr>
        <p:spPr>
          <a:xfrm>
            <a:off x="6166075" y="-7200"/>
            <a:ext cx="2977800" cy="515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86" name="Google Shape;86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2984" y="316925"/>
            <a:ext cx="965975" cy="9659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/>
          <p:nvPr>
            <p:ph idx="2" type="pic"/>
          </p:nvPr>
        </p:nvSpPr>
        <p:spPr>
          <a:xfrm>
            <a:off x="316950" y="316925"/>
            <a:ext cx="5537400" cy="21744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316950" y="2949575"/>
            <a:ext cx="5537400" cy="841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316950" y="4022163"/>
            <a:ext cx="5537400" cy="45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" name="Google Shape;90;p14"/>
          <p:cNvSpPr txBox="1"/>
          <p:nvPr>
            <p:ph idx="3" type="title"/>
          </p:nvPr>
        </p:nvSpPr>
        <p:spPr>
          <a:xfrm>
            <a:off x="6555775" y="1758600"/>
            <a:ext cx="2198400" cy="1265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1" name="Google Shape;91;p14"/>
          <p:cNvSpPr txBox="1"/>
          <p:nvPr>
            <p:ph idx="4" type="subTitle"/>
          </p:nvPr>
        </p:nvSpPr>
        <p:spPr>
          <a:xfrm>
            <a:off x="6555775" y="3179000"/>
            <a:ext cx="1731900" cy="45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4">
  <p:cSld name="SECTION_TITLE_AND_DESCRIPTION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/>
          <p:nvPr/>
        </p:nvSpPr>
        <p:spPr>
          <a:xfrm>
            <a:off x="6166075" y="-7200"/>
            <a:ext cx="2977800" cy="515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94" name="Google Shape;94;p15"/>
          <p:cNvSpPr/>
          <p:nvPr>
            <p:ph idx="2" type="pic"/>
          </p:nvPr>
        </p:nvSpPr>
        <p:spPr>
          <a:xfrm>
            <a:off x="316950" y="316925"/>
            <a:ext cx="5537400" cy="2174400"/>
          </a:xfrm>
          <a:prstGeom prst="rect">
            <a:avLst/>
          </a:prstGeom>
          <a:noFill/>
          <a:ln>
            <a:noFill/>
          </a:ln>
        </p:spPr>
      </p:sp>
      <p:pic>
        <p:nvPicPr>
          <p:cNvPr id="95" name="Google Shape;9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2984" y="316925"/>
            <a:ext cx="965975" cy="965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/>
          <p:nvPr>
            <p:ph type="title"/>
          </p:nvPr>
        </p:nvSpPr>
        <p:spPr>
          <a:xfrm>
            <a:off x="316950" y="2949575"/>
            <a:ext cx="5537400" cy="841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7" name="Google Shape;97;p15"/>
          <p:cNvSpPr txBox="1"/>
          <p:nvPr>
            <p:ph idx="1" type="subTitle"/>
          </p:nvPr>
        </p:nvSpPr>
        <p:spPr>
          <a:xfrm>
            <a:off x="316950" y="4022163"/>
            <a:ext cx="5537400" cy="45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" name="Google Shape;98;p15"/>
          <p:cNvSpPr txBox="1"/>
          <p:nvPr>
            <p:ph idx="3" type="title"/>
          </p:nvPr>
        </p:nvSpPr>
        <p:spPr>
          <a:xfrm>
            <a:off x="6555775" y="1758600"/>
            <a:ext cx="2198400" cy="1265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4" type="subTitle"/>
          </p:nvPr>
        </p:nvSpPr>
        <p:spPr>
          <a:xfrm>
            <a:off x="6555775" y="3179000"/>
            <a:ext cx="1731900" cy="45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image 1">
  <p:cSld name="SECTION_TITLE_AND_DESCRIPTION_1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>
            <p:ph idx="2" type="pic"/>
          </p:nvPr>
        </p:nvSpPr>
        <p:spPr>
          <a:xfrm>
            <a:off x="3301550" y="316925"/>
            <a:ext cx="5537400" cy="44937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16"/>
          <p:cNvSpPr/>
          <p:nvPr/>
        </p:nvSpPr>
        <p:spPr>
          <a:xfrm>
            <a:off x="0" y="-7200"/>
            <a:ext cx="2977800" cy="515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03" name="Google Shape;103;p16"/>
          <p:cNvSpPr txBox="1"/>
          <p:nvPr>
            <p:ph type="title"/>
          </p:nvPr>
        </p:nvSpPr>
        <p:spPr>
          <a:xfrm>
            <a:off x="389700" y="1758600"/>
            <a:ext cx="2198400" cy="1265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" name="Google Shape;104;p16"/>
          <p:cNvSpPr txBox="1"/>
          <p:nvPr>
            <p:ph idx="1" type="subTitle"/>
          </p:nvPr>
        </p:nvSpPr>
        <p:spPr>
          <a:xfrm>
            <a:off x="389700" y="3179000"/>
            <a:ext cx="1731900" cy="45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05" name="Google Shape;10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2984" y="316925"/>
            <a:ext cx="965975" cy="96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image 1 (no arrows)">
  <p:cSld name="SECTION_TITLE_AND_DESCRIPTION_1_1_1_3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/>
          <p:nvPr>
            <p:ph idx="2" type="pic"/>
          </p:nvPr>
        </p:nvSpPr>
        <p:spPr>
          <a:xfrm>
            <a:off x="3301550" y="316925"/>
            <a:ext cx="5537400" cy="44937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7"/>
          <p:cNvSpPr/>
          <p:nvPr/>
        </p:nvSpPr>
        <p:spPr>
          <a:xfrm>
            <a:off x="0" y="-7200"/>
            <a:ext cx="2977800" cy="515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09" name="Google Shape;109;p17"/>
          <p:cNvSpPr txBox="1"/>
          <p:nvPr>
            <p:ph type="title"/>
          </p:nvPr>
        </p:nvSpPr>
        <p:spPr>
          <a:xfrm>
            <a:off x="389700" y="1758600"/>
            <a:ext cx="2198400" cy="1265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0" name="Google Shape;110;p17"/>
          <p:cNvSpPr txBox="1"/>
          <p:nvPr>
            <p:ph idx="1" type="subTitle"/>
          </p:nvPr>
        </p:nvSpPr>
        <p:spPr>
          <a:xfrm>
            <a:off x="389700" y="3179000"/>
            <a:ext cx="1731900" cy="45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image 2">
  <p:cSld name="SECTION_TITLE_AND_DESCRIPTION_1_1_1_2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/>
          <p:nvPr>
            <p:ph idx="2" type="pic"/>
          </p:nvPr>
        </p:nvSpPr>
        <p:spPr>
          <a:xfrm>
            <a:off x="3301550" y="316925"/>
            <a:ext cx="5537400" cy="44937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18"/>
          <p:cNvSpPr/>
          <p:nvPr/>
        </p:nvSpPr>
        <p:spPr>
          <a:xfrm>
            <a:off x="0" y="-7200"/>
            <a:ext cx="2977800" cy="515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14" name="Google Shape;114;p18"/>
          <p:cNvSpPr txBox="1"/>
          <p:nvPr>
            <p:ph type="title"/>
          </p:nvPr>
        </p:nvSpPr>
        <p:spPr>
          <a:xfrm>
            <a:off x="389700" y="1758600"/>
            <a:ext cx="2198400" cy="1265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1" type="subTitle"/>
          </p:nvPr>
        </p:nvSpPr>
        <p:spPr>
          <a:xfrm>
            <a:off x="389700" y="3179000"/>
            <a:ext cx="1731900" cy="45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16" name="Google Shape;11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2984" y="316925"/>
            <a:ext cx="965975" cy="96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image (no arrows)">
  <p:cSld name="SECTION_TITLE_AND_DESCRIPTION_1_1_1_2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>
            <p:ph idx="2" type="pic"/>
          </p:nvPr>
        </p:nvSpPr>
        <p:spPr>
          <a:xfrm>
            <a:off x="3301550" y="316925"/>
            <a:ext cx="5537400" cy="44937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9"/>
          <p:cNvSpPr/>
          <p:nvPr/>
        </p:nvSpPr>
        <p:spPr>
          <a:xfrm>
            <a:off x="0" y="-7200"/>
            <a:ext cx="2977800" cy="515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20" name="Google Shape;120;p19"/>
          <p:cNvSpPr txBox="1"/>
          <p:nvPr>
            <p:ph type="title"/>
          </p:nvPr>
        </p:nvSpPr>
        <p:spPr>
          <a:xfrm>
            <a:off x="389700" y="1758600"/>
            <a:ext cx="2198400" cy="1265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1" name="Google Shape;121;p19"/>
          <p:cNvSpPr txBox="1"/>
          <p:nvPr>
            <p:ph idx="1" type="subTitle"/>
          </p:nvPr>
        </p:nvSpPr>
        <p:spPr>
          <a:xfrm>
            <a:off x="389700" y="3179000"/>
            <a:ext cx="1731900" cy="45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image 3">
  <p:cSld name="SECTION_TITLE_AND_DESCRIPTION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/>
          <p:nvPr>
            <p:ph idx="2" type="pic"/>
          </p:nvPr>
        </p:nvSpPr>
        <p:spPr>
          <a:xfrm>
            <a:off x="3301550" y="316925"/>
            <a:ext cx="5537400" cy="44937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0"/>
          <p:cNvSpPr/>
          <p:nvPr/>
        </p:nvSpPr>
        <p:spPr>
          <a:xfrm>
            <a:off x="0" y="-7200"/>
            <a:ext cx="2977800" cy="515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25" name="Google Shape;125;p20"/>
          <p:cNvSpPr txBox="1"/>
          <p:nvPr>
            <p:ph type="title"/>
          </p:nvPr>
        </p:nvSpPr>
        <p:spPr>
          <a:xfrm>
            <a:off x="389700" y="1758600"/>
            <a:ext cx="2198400" cy="1265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6" name="Google Shape;126;p20"/>
          <p:cNvSpPr txBox="1"/>
          <p:nvPr>
            <p:ph idx="1" type="subTitle"/>
          </p:nvPr>
        </p:nvSpPr>
        <p:spPr>
          <a:xfrm>
            <a:off x="389700" y="3179000"/>
            <a:ext cx="1731900" cy="45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27" name="Google Shape;12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2984" y="316925"/>
            <a:ext cx="965975" cy="96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image 3 (no arrows)">
  <p:cSld name="SECTION_TITLE_AND_DESCRIPTION_1_1_1_1_2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/>
          <p:nvPr>
            <p:ph idx="2" type="pic"/>
          </p:nvPr>
        </p:nvSpPr>
        <p:spPr>
          <a:xfrm>
            <a:off x="3301550" y="316925"/>
            <a:ext cx="5537400" cy="44937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1"/>
          <p:cNvSpPr/>
          <p:nvPr/>
        </p:nvSpPr>
        <p:spPr>
          <a:xfrm>
            <a:off x="0" y="-7200"/>
            <a:ext cx="2977800" cy="515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31" name="Google Shape;131;p21"/>
          <p:cNvSpPr txBox="1"/>
          <p:nvPr>
            <p:ph type="title"/>
          </p:nvPr>
        </p:nvSpPr>
        <p:spPr>
          <a:xfrm>
            <a:off x="389700" y="1758600"/>
            <a:ext cx="2198400" cy="1265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2" name="Google Shape;132;p21"/>
          <p:cNvSpPr txBox="1"/>
          <p:nvPr>
            <p:ph idx="1" type="subTitle"/>
          </p:nvPr>
        </p:nvSpPr>
        <p:spPr>
          <a:xfrm>
            <a:off x="389700" y="3179000"/>
            <a:ext cx="1731900" cy="45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image 4">
  <p:cSld name="SECTION_TITLE_AND_DESCRIPTION_1_1_1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/>
          <p:nvPr>
            <p:ph idx="2" type="pic"/>
          </p:nvPr>
        </p:nvSpPr>
        <p:spPr>
          <a:xfrm>
            <a:off x="3301550" y="316925"/>
            <a:ext cx="5537400" cy="44937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22"/>
          <p:cNvSpPr/>
          <p:nvPr/>
        </p:nvSpPr>
        <p:spPr>
          <a:xfrm>
            <a:off x="0" y="-7200"/>
            <a:ext cx="2977800" cy="515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36" name="Google Shape;136;p22"/>
          <p:cNvSpPr txBox="1"/>
          <p:nvPr>
            <p:ph type="title"/>
          </p:nvPr>
        </p:nvSpPr>
        <p:spPr>
          <a:xfrm>
            <a:off x="389700" y="1758600"/>
            <a:ext cx="2198400" cy="1265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7" name="Google Shape;137;p22"/>
          <p:cNvSpPr txBox="1"/>
          <p:nvPr>
            <p:ph idx="1" type="subTitle"/>
          </p:nvPr>
        </p:nvSpPr>
        <p:spPr>
          <a:xfrm>
            <a:off x="389700" y="3179000"/>
            <a:ext cx="1731900" cy="45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8" name="Google Shape;138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2984" y="316925"/>
            <a:ext cx="965975" cy="96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image 4 (no arrows)">
  <p:cSld name="SECTION_TITLE_AND_DESCRIPTION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/>
          <p:nvPr>
            <p:ph idx="2" type="pic"/>
          </p:nvPr>
        </p:nvSpPr>
        <p:spPr>
          <a:xfrm>
            <a:off x="3301550" y="316925"/>
            <a:ext cx="5537400" cy="44937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3"/>
          <p:cNvSpPr/>
          <p:nvPr/>
        </p:nvSpPr>
        <p:spPr>
          <a:xfrm>
            <a:off x="0" y="-7200"/>
            <a:ext cx="2977800" cy="515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42" name="Google Shape;142;p23"/>
          <p:cNvSpPr txBox="1"/>
          <p:nvPr>
            <p:ph type="title"/>
          </p:nvPr>
        </p:nvSpPr>
        <p:spPr>
          <a:xfrm>
            <a:off x="389700" y="1758600"/>
            <a:ext cx="2198400" cy="12657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3" name="Google Shape;143;p23"/>
          <p:cNvSpPr txBox="1"/>
          <p:nvPr>
            <p:ph idx="1" type="subTitle"/>
          </p:nvPr>
        </p:nvSpPr>
        <p:spPr>
          <a:xfrm>
            <a:off x="389700" y="3179000"/>
            <a:ext cx="1731900" cy="45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">
  <p:cSld name="CAPTION_ONLY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/>
          <p:nvPr>
            <p:ph idx="2" type="pic"/>
          </p:nvPr>
        </p:nvSpPr>
        <p:spPr>
          <a:xfrm>
            <a:off x="316950" y="316925"/>
            <a:ext cx="8531100" cy="36513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311700" y="4160019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>
                <a:solidFill>
                  <a:schemeClr val="dk2"/>
                </a:solidFill>
              </a:defRPr>
            </a:lvl1pPr>
          </a:lstStyle>
          <a:p/>
        </p:txBody>
      </p:sp>
      <p:pic>
        <p:nvPicPr>
          <p:cNvPr id="147" name="Google Shape;147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82128" y="316925"/>
            <a:ext cx="965975" cy="96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6600" y="4315469"/>
            <a:ext cx="1581450" cy="29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959990"/>
            <a:ext cx="9143998" cy="186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CAPTION_ONLY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8299" y="4177623"/>
            <a:ext cx="2169149" cy="51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5"/>
          <p:cNvSpPr txBox="1"/>
          <p:nvPr>
            <p:ph type="ctrTitle"/>
          </p:nvPr>
        </p:nvSpPr>
        <p:spPr>
          <a:xfrm>
            <a:off x="685800" y="1523800"/>
            <a:ext cx="5544300" cy="16050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5" name="Google Shape;155;p25"/>
          <p:cNvSpPr txBox="1"/>
          <p:nvPr>
            <p:ph idx="1" type="subTitle"/>
          </p:nvPr>
        </p:nvSpPr>
        <p:spPr>
          <a:xfrm>
            <a:off x="685800" y="3165800"/>
            <a:ext cx="5295900" cy="45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56" name="Google Shape;15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72984" y="316925"/>
            <a:ext cx="965975" cy="96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ora"/>
              <a:buNone/>
              <a:defRPr b="1" sz="2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lbert Sans"/>
              <a:buChar char="●"/>
              <a:defRPr sz="1800"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Char char="○"/>
              <a:defRPr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Char char="■"/>
              <a:defRPr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Char char="●"/>
              <a:defRPr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Char char="○"/>
              <a:defRPr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Char char="■"/>
              <a:defRPr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Char char="●"/>
              <a:defRPr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Char char="○"/>
              <a:defRPr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"/>
              <a:buChar char="■"/>
              <a:defRPr>
                <a:solidFill>
                  <a:schemeClr val="lt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>
            <p:ph type="ctrTitle"/>
          </p:nvPr>
        </p:nvSpPr>
        <p:spPr>
          <a:xfrm>
            <a:off x="685800" y="1523800"/>
            <a:ext cx="5544300" cy="16050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30B Models in a Trenchcoat</a:t>
            </a:r>
            <a:endParaRPr/>
          </a:p>
        </p:txBody>
      </p:sp>
      <p:sp>
        <p:nvSpPr>
          <p:cNvPr id="162" name="Google Shape;162;p26"/>
          <p:cNvSpPr txBox="1"/>
          <p:nvPr>
            <p:ph idx="1" type="subTitle"/>
          </p:nvPr>
        </p:nvSpPr>
        <p:spPr>
          <a:xfrm>
            <a:off x="685800" y="3834775"/>
            <a:ext cx="5295900" cy="791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Ratchet: a directed, converging Agent Loop for use with small models</a:t>
            </a:r>
            <a:endParaRPr/>
          </a:p>
        </p:txBody>
      </p:sp>
      <p:pic>
        <p:nvPicPr>
          <p:cNvPr descr="Android in a trenchcoat and fedora stands on a city sidewalk, partially revealing its robotic frame." id="163" name="Google Shape;16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2500" y="152400"/>
            <a:ext cx="2609100" cy="260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ctrTitle"/>
          </p:nvPr>
        </p:nvSpPr>
        <p:spPr>
          <a:xfrm>
            <a:off x="685800" y="1523800"/>
            <a:ext cx="5544300" cy="16050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Frontier: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Everything</a:t>
            </a:r>
            <a:endParaRPr/>
          </a:p>
        </p:txBody>
      </p:sp>
      <p:sp>
        <p:nvSpPr>
          <p:cNvPr id="169" name="Google Shape;169;p27"/>
          <p:cNvSpPr txBox="1"/>
          <p:nvPr>
            <p:ph idx="1" type="subTitle"/>
          </p:nvPr>
        </p:nvSpPr>
        <p:spPr>
          <a:xfrm>
            <a:off x="685800" y="3165800"/>
            <a:ext cx="5295900" cy="45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models handle ambiguity well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coding agent handshakes with models, manages context and provides a notion of persistence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It’s all very expensive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ctrTitle"/>
          </p:nvPr>
        </p:nvSpPr>
        <p:spPr>
          <a:xfrm>
            <a:off x="685800" y="1523800"/>
            <a:ext cx="5544300" cy="16050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We Do? Go Lower</a:t>
            </a:r>
            <a:endParaRPr/>
          </a:p>
        </p:txBody>
      </p:sp>
      <p:sp>
        <p:nvSpPr>
          <p:cNvPr id="175" name="Google Shape;175;p28"/>
          <p:cNvSpPr txBox="1"/>
          <p:nvPr>
            <p:ph idx="1" type="subTitle"/>
          </p:nvPr>
        </p:nvSpPr>
        <p:spPr>
          <a:xfrm>
            <a:off x="685800" y="3165800"/>
            <a:ext cx="5295900" cy="453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More modest frontier models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Mid-tier models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Models on consumer hardware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These are less in every way, to different degrees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685800" y="1065600"/>
            <a:ext cx="4550100" cy="1761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Ralph Wiggum, GasTown,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Ratchet</a:t>
            </a:r>
            <a:endParaRPr/>
          </a:p>
        </p:txBody>
      </p:sp>
      <p:sp>
        <p:nvSpPr>
          <p:cNvPr id="181" name="Google Shape;181;p29"/>
          <p:cNvSpPr txBox="1"/>
          <p:nvPr>
            <p:ph idx="1" type="subTitle"/>
          </p:nvPr>
        </p:nvSpPr>
        <p:spPr>
          <a:xfrm>
            <a:off x="685800" y="3098875"/>
            <a:ext cx="4550100" cy="1619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Getting the human out of the way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Finding the right amount of structure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Knowing what success means</a:t>
            </a:r>
            <a:endParaRPr/>
          </a:p>
        </p:txBody>
      </p:sp>
      <p:sp>
        <p:nvSpPr>
          <p:cNvPr id="182" name="Google Shape;182;p29"/>
          <p:cNvSpPr/>
          <p:nvPr>
            <p:ph idx="2" type="pic"/>
          </p:nvPr>
        </p:nvSpPr>
        <p:spPr>
          <a:xfrm>
            <a:off x="5235825" y="79500"/>
            <a:ext cx="3824400" cy="4791300"/>
          </a:xfrm>
          <a:prstGeom prst="rect">
            <a:avLst/>
          </a:prstGeom>
        </p:spPr>
      </p:sp>
      <p:sp>
        <p:nvSpPr>
          <p:cNvPr id="183" name="Google Shape;183;p29"/>
          <p:cNvSpPr txBox="1"/>
          <p:nvPr>
            <p:ph idx="1" type="subTitle"/>
          </p:nvPr>
        </p:nvSpPr>
        <p:spPr>
          <a:xfrm>
            <a:off x="1913327" y="3756196"/>
            <a:ext cx="37500" cy="6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4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lbert Sans Black"/>
              <a:ea typeface="Albert Sans Black"/>
              <a:cs typeface="Albert Sans Black"/>
              <a:sym typeface="Albert Sans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685800" y="1065600"/>
            <a:ext cx="3495300" cy="1761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Ratchet?</a:t>
            </a:r>
            <a:endParaRPr/>
          </a:p>
        </p:txBody>
      </p:sp>
      <p:sp>
        <p:nvSpPr>
          <p:cNvPr id="189" name="Google Shape;189;p30"/>
          <p:cNvSpPr txBox="1"/>
          <p:nvPr>
            <p:ph idx="1" type="subTitle"/>
          </p:nvPr>
        </p:nvSpPr>
        <p:spPr>
          <a:xfrm>
            <a:off x="685800" y="2841256"/>
            <a:ext cx="3597000" cy="2029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 lnSpcReduction="2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Well-defined verbs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Accepts a design doc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Decomposes into beads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Writes tests, then code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Every writer gets an editor…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And a judge to break ties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Bead results cascade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Escalates</a:t>
            </a:r>
            <a:r>
              <a:rPr lang="en"/>
              <a:t> to a human as needed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lockwork robot with sharp teeth consumes glowing idea spheres near a chalkboard." id="190" name="Google Shape;190;p3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0089" r="10089" t="0"/>
          <a:stretch/>
        </p:blipFill>
        <p:spPr>
          <a:xfrm>
            <a:off x="5235825" y="79500"/>
            <a:ext cx="3824401" cy="4791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idx="1" type="body"/>
          </p:nvPr>
        </p:nvSpPr>
        <p:spPr>
          <a:xfrm>
            <a:off x="431050" y="1152475"/>
            <a:ext cx="3880500" cy="29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Judgment is the point, and bigger models have better judgment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Trying to coordinate multiple small models is fiddly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Time is sometimes more important than money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Harnesses and coding agents are improving at a furious pace</a:t>
            </a:r>
            <a:endParaRPr/>
          </a:p>
        </p:txBody>
      </p:sp>
      <p:sp>
        <p:nvSpPr>
          <p:cNvPr id="196" name="Google Shape;196;p31"/>
          <p:cNvSpPr txBox="1"/>
          <p:nvPr>
            <p:ph type="title"/>
          </p:nvPr>
        </p:nvSpPr>
        <p:spPr>
          <a:xfrm>
            <a:off x="431062" y="320050"/>
            <a:ext cx="6780300" cy="57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Ratchet a Terrible Idea?</a:t>
            </a:r>
            <a:endParaRPr/>
          </a:p>
        </p:txBody>
      </p:sp>
      <p:sp>
        <p:nvSpPr>
          <p:cNvPr id="197" name="Google Shape;197;p31"/>
          <p:cNvSpPr txBox="1"/>
          <p:nvPr>
            <p:ph idx="2" type="body"/>
          </p:nvPr>
        </p:nvSpPr>
        <p:spPr>
          <a:xfrm>
            <a:off x="4610700" y="1115238"/>
            <a:ext cx="3880500" cy="29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Mechanical checks, where possible, can replace judgment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DIY can improve knowledge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That wisdom can pay dividends when working with more </a:t>
            </a:r>
            <a:r>
              <a:rPr lang="en"/>
              <a:t>expensive</a:t>
            </a:r>
            <a:r>
              <a:rPr lang="en"/>
              <a:t> systems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the org’s AI knowledge is T-shaped, that distributed expertise is a tide that lifts all boats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431062" y="320050"/>
            <a:ext cx="6780300" cy="57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Ratchet</a:t>
            </a:r>
            <a:r>
              <a:rPr lang="en"/>
              <a:t> and the Agent Loop</a:t>
            </a:r>
            <a:endParaRPr/>
          </a:p>
        </p:txBody>
      </p:sp>
      <p:sp>
        <p:nvSpPr>
          <p:cNvPr id="203" name="Google Shape;203;p32"/>
          <p:cNvSpPr txBox="1"/>
          <p:nvPr>
            <p:ph idx="1" type="body"/>
          </p:nvPr>
        </p:nvSpPr>
        <p:spPr>
          <a:xfrm>
            <a:off x="431062" y="1016425"/>
            <a:ext cx="7810200" cy="30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 a design doc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Decompose the design document into beads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each bead: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Write tests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Iterate </a:t>
            </a:r>
            <a:r>
              <a:rPr lang="en"/>
              <a:t>implementation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Revise the next bead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type="title"/>
          </p:nvPr>
        </p:nvSpPr>
        <p:spPr>
          <a:xfrm>
            <a:off x="431062" y="320050"/>
            <a:ext cx="6780300" cy="57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Within Loops</a:t>
            </a:r>
            <a:endParaRPr/>
          </a:p>
        </p:txBody>
      </p: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431062" y="1016425"/>
            <a:ext cx="7810200" cy="30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of these steps also iterate (with bespoke prompts):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Write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Iterate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Resolve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Move forward or escalate to the human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431062" y="320050"/>
            <a:ext cx="6780300" cy="57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Doc to Beads</a:t>
            </a:r>
            <a:endParaRPr/>
          </a:p>
        </p:txBody>
      </p:sp>
      <p:sp>
        <p:nvSpPr>
          <p:cNvPr id="215" name="Google Shape;215;p34"/>
          <p:cNvSpPr txBox="1"/>
          <p:nvPr>
            <p:ph idx="1" type="body"/>
          </p:nvPr>
        </p:nvSpPr>
        <p:spPr>
          <a:xfrm>
            <a:off x="431062" y="1016425"/>
            <a:ext cx="7810200" cy="30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SURVEY_SPEC</a:t>
            </a:r>
            <a:r>
              <a:rPr lang="en"/>
              <a:t> — reads the design doc and produces a structured file manifest (no code tools, JSON output only).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VERIFY_MANIFEST</a:t>
            </a:r>
            <a:r>
              <a:rPr lang="en"/>
              <a:t> — a model-free verb that materializes the manifest to disk and runs 6 mechanical checks (file presence, no behavioral tests, compile check, api_check assertions, stub-purity AST scan, cross-file type consistency).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CERTIFY_MANIFEST</a:t>
            </a:r>
            <a:r>
              <a:rPr lang="en"/>
              <a:t> — approves or rejects the verified manifest; a reject re-enqueues SURVEY_SPEC with feedback, and 5 total rejections full-stops the project.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DECOMPOSE_SPEC</a:t>
            </a:r>
            <a:r>
              <a:rPr lang="en"/>
              <a:t> — turns the design doc (+ survey) into the bead specs that will each become one unit of work.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AUDIT_DECOMPOSITION</a:t>
            </a:r>
            <a:r>
              <a:rPr lang="en"/>
              <a:t> — cross-reviews the proposed decomposition for structural violations (forward file references, bad bead ordering, merged/dropped beads).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RECONCILE_DECOMPOSITION</a:t>
            </a:r>
            <a:r>
              <a:rPr lang="en"/>
              <a:t> — proposes a fix when AUDIT finds issues, looping with AUDIT until it converges or hits the round cap.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CASCADE_REVIEW</a:t>
            </a:r>
            <a:r>
              <a:rPr lang="en"/>
              <a:t> — (cascade iterations only) diffs each inherited bead's spec against the baseline and resets only the changed ones to pending.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/>
          <p:nvPr>
            <p:ph type="title"/>
          </p:nvPr>
        </p:nvSpPr>
        <p:spPr>
          <a:xfrm>
            <a:off x="431062" y="320050"/>
            <a:ext cx="6780300" cy="57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 Setting the Design Doc</a:t>
            </a:r>
            <a:endParaRPr/>
          </a:p>
        </p:txBody>
      </p:sp>
      <p:sp>
        <p:nvSpPr>
          <p:cNvPr id="221" name="Google Shape;221;p35"/>
          <p:cNvSpPr txBox="1"/>
          <p:nvPr>
            <p:ph idx="1" type="body"/>
          </p:nvPr>
        </p:nvSpPr>
        <p:spPr>
          <a:xfrm>
            <a:off x="431062" y="1016425"/>
            <a:ext cx="7810200" cy="30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draft-design-doc (Claude skill)</a:t>
            </a:r>
            <a:r>
              <a:rPr lang="en"/>
              <a:t> — Turns a prose project description into a draft Ratchet design doc following a standard 7-section template, doing the same authoring work Claude does ad hoc in conversation (worked examples verified against real scripts, exact signatures, verbatim pins for load-bearing literals) but as a repeatable, checklist-driven step. Produces a draft only — not trusted for new-project until it's been through check-design-doc.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check-design-doc</a:t>
            </a:r>
            <a:r>
              <a:rPr lang="en"/>
              <a:t> (Claude skill, wraps cmd/checkdesigndoc) — Runs the full design-doc sign-off sequence: a mechanical ambiguity scan (the numbered checklist classes, construction-form, bead-size), an independent judgment pass, and pin-consistency checking, then surfaces one consolidated list for an explicit, item-by-item human decision.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Deliberately mirrors the pipeline's own DECOMPOSE → AUDIT → RECONCILE shape, but applied one layer earlier — to the doc itself, before SURVEY_SPEC ever sees it. Works on any design doc, hand-written or drafted.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type="title"/>
          </p:nvPr>
        </p:nvSpPr>
        <p:spPr>
          <a:xfrm>
            <a:off x="431062" y="320050"/>
            <a:ext cx="6780300" cy="57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Mechanical Detections</a:t>
            </a:r>
            <a:endParaRPr/>
          </a:p>
        </p:txBody>
      </p:sp>
      <p:sp>
        <p:nvSpPr>
          <p:cNvPr id="227" name="Google Shape;227;p36"/>
          <p:cNvSpPr txBox="1"/>
          <p:nvPr>
            <p:ph idx="1" type="body"/>
          </p:nvPr>
        </p:nvSpPr>
        <p:spPr>
          <a:xfrm>
            <a:off x="431062" y="1016425"/>
            <a:ext cx="7810200" cy="30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Directional/geometric</a:t>
            </a:r>
            <a:br>
              <a:rPr lang="en"/>
            </a:br>
            <a:r>
              <a:rPr lang="en"/>
              <a:t>Replace relative-direction language ("moves toward lower row indices”) with worked examples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Spec-derived arithmetic</a:t>
            </a:r>
            <a:br>
              <a:rPr lang="en"/>
            </a:br>
            <a:r>
              <a:rPr lang="en"/>
              <a:t>Replace formula/constraint language (army counts, capacities, hashes) with literal numbers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Concrete literals over symbolic</a:t>
            </a:r>
            <a:r>
              <a:rPr lang="en"/>
              <a:t> </a:t>
            </a:r>
            <a:r>
              <a:rPr b="1" lang="en"/>
              <a:t>references</a:t>
            </a:r>
            <a:br>
              <a:rPr b="1" lang="en"/>
            </a:br>
            <a:r>
              <a:rPr lang="en"/>
              <a:t>(e.g. explicitly map state colors)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b="1" lang="en"/>
              <a:t>Package/entry-point declaration</a:t>
            </a:r>
            <a:br>
              <a:rPr b="1" lang="en"/>
            </a:br>
            <a:r>
              <a:rPr lang="en"/>
              <a:t>Explicitly determine the package for a file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7"/>
          <p:cNvSpPr txBox="1"/>
          <p:nvPr>
            <p:ph type="title"/>
          </p:nvPr>
        </p:nvSpPr>
        <p:spPr>
          <a:xfrm>
            <a:off x="431062" y="320050"/>
            <a:ext cx="6780300" cy="57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More Mechanical Detection</a:t>
            </a:r>
            <a:endParaRPr/>
          </a:p>
        </p:txBody>
      </p:sp>
      <p:sp>
        <p:nvSpPr>
          <p:cNvPr id="233" name="Google Shape;233;p37"/>
          <p:cNvSpPr txBox="1"/>
          <p:nvPr>
            <p:ph idx="1" type="body"/>
          </p:nvPr>
        </p:nvSpPr>
        <p:spPr>
          <a:xfrm>
            <a:off x="431062" y="1016425"/>
            <a:ext cx="7810200" cy="30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Avoid Self-describing Categories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Frontier</a:t>
            </a:r>
            <a:r>
              <a:rPr b="1" lang="en"/>
              <a:t> </a:t>
            </a:r>
            <a:r>
              <a:rPr lang="en"/>
              <a:t>understand a lot more about the world than small models do.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biggest mechanical check that we do when vetting a design doc is looking for words like “standard”, “normal”, “conventional” next to a rules or behavior noun.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Frontier models will recover from this; small models will not.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This is one of the harder things to handle when creating a design doc.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 txBox="1"/>
          <p:nvPr>
            <p:ph type="title"/>
          </p:nvPr>
        </p:nvSpPr>
        <p:spPr>
          <a:xfrm>
            <a:off x="431062" y="320050"/>
            <a:ext cx="6780300" cy="57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Parts of a Ratchet Design Doc</a:t>
            </a:r>
            <a:endParaRPr/>
          </a:p>
        </p:txBody>
      </p:sp>
      <p:sp>
        <p:nvSpPr>
          <p:cNvPr id="239" name="Google Shape;239;p38"/>
          <p:cNvSpPr txBox="1"/>
          <p:nvPr>
            <p:ph idx="1" type="body"/>
          </p:nvPr>
        </p:nvSpPr>
        <p:spPr>
          <a:xfrm>
            <a:off x="431050" y="1016425"/>
            <a:ext cx="7810200" cy="38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b="1" lang="en"/>
              <a:t>Overview</a:t>
            </a:r>
            <a:r>
              <a:rPr lang="en"/>
              <a:t> — One paragraph: what the project does, who uses it, the runtime model (CLI/server/library), and what's explicitly out of scope (load-bearing — stops the model adding unrequested features). Also a Domain parameters list: every guessable parameter (board size, limits, auth) stated explicitly, since an unstated one gets a plausible-but-possibly-wrong default.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</a:t>
            </a:r>
            <a:r>
              <a:rPr b="1" lang="en"/>
              <a:t>Architecture</a:t>
            </a:r>
            <a:r>
              <a:rPr lang="en"/>
              <a:t> (conditional — skip under 4 source files with no layout opinion) — A directory listing of which file owns which concern, plus explicit "do NOT put X in Y" file-ownership rules. States the fixed constraints (single flat package, package main default, main.go's exact minimal contents).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</a:t>
            </a:r>
            <a:r>
              <a:rPr b="1" lang="en"/>
              <a:t>Data Types and Function Signatures</a:t>
            </a:r>
            <a:r>
              <a:rPr lang="en"/>
              <a:t> — Complete signatures for every type/constant/function/package-var any bead touches, exported or not. This is SURVEY's primary precision input — a wrong type here propagates everywhere. Includes an Export signatures subsection: verbatim var _ assertion lines for every exported symbol, checked against the generated do_not_use_this_test.go.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4. </a:t>
            </a:r>
            <a:r>
              <a:rPr b="1" lang="en"/>
              <a:t>Behavioral Specification </a:t>
            </a:r>
            <a:r>
              <a:rPr lang="en"/>
              <a:t>— One or two sentences per function/group on WHAT it does (the contract, not the implementation): pure-read vs. mutator, how functions compose, what triggers state changes, which functions form an independently-testable group (DECOMPOSE uses this to find bead seams), and any ambiguity resolutions SURVEY/DECOMPOSE would otherwise guess.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5. </a:t>
            </a:r>
            <a:r>
              <a:rPr b="1" lang="en"/>
              <a:t>Domain-Specific Test Scenarios</a:t>
            </a:r>
            <a:r>
              <a:rPr lang="en"/>
              <a:t> (conditional — include when a bead tests non-obvious geometry) — Exact positions in domain-legible notation with the arithmetic verification inline, and the specific wrong answer named explicitly (the algebraic-notation/Δrow-Δcol pattern). Any value here that must survive into a bead needs a matching Pin bullet in Decomposition Notes.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6. </a:t>
            </a:r>
            <a:r>
              <a:rPr b="1" lang="en"/>
              <a:t>Cross-Bead Contracts</a:t>
            </a:r>
            <a:r>
              <a:rPr lang="en"/>
              <a:t> (conditional — omit if no bead-to-bead interface exists) — The most commonly incomplete section. Each entry: type (data-shape/format/protocol/schema), producer, consumer, the exact interface (verbatim — AUDIT flags paraphrase), and notes covering every return variant, not just the happy path.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7. </a:t>
            </a:r>
            <a:r>
              <a:rPr b="1" lang="en"/>
              <a:t>Decomposition Notes</a:t>
            </a:r>
            <a:r>
              <a:rPr lang="en"/>
              <a:t> (conditional — skip only for a small single-file library) — The numbered bead dependency list (name, owned symbols, dependencies, owned file — structure only, not spec prose) that DECOMPOSE_SPEC cannot merge or drop. Also carries bounded integration-bead scenarios, per-bead constraints, file-sharing sequencing, and Pin bullets for every load-bearing literal that must reach a named bead's spec verbatim.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 txBox="1"/>
          <p:nvPr>
            <p:ph type="title"/>
          </p:nvPr>
        </p:nvSpPr>
        <p:spPr>
          <a:xfrm>
            <a:off x="431062" y="320050"/>
            <a:ext cx="6780300" cy="57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Tests</a:t>
            </a:r>
            <a:endParaRPr/>
          </a:p>
        </p:txBody>
      </p:sp>
      <p:sp>
        <p:nvSpPr>
          <p:cNvPr id="245" name="Google Shape;245;p39"/>
          <p:cNvSpPr txBox="1"/>
          <p:nvPr>
            <p:ph idx="1" type="body"/>
          </p:nvPr>
        </p:nvSpPr>
        <p:spPr>
          <a:xfrm>
            <a:off x="431062" y="1016425"/>
            <a:ext cx="7810200" cy="30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REFINE_TESTS_WRITE</a:t>
            </a:r>
            <a:r>
              <a:rPr lang="en"/>
              <a:t> — writes/revises the bead's test file.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REFINE_TESTS_CRITIQUE</a:t>
            </a:r>
            <a:r>
              <a:rPr lang="en"/>
              <a:t> — reviews the written test file before it goes to JUDGE.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REFINE_TESTS_JUDGE</a:t>
            </a:r>
            <a:r>
              <a:rPr lang="en"/>
              <a:t> — approves the test file or sends it back to REFINE_TESTS_WRITE (cap 5 cycles).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/>
          <p:nvPr>
            <p:ph type="title"/>
          </p:nvPr>
        </p:nvSpPr>
        <p:spPr>
          <a:xfrm>
            <a:off x="431062" y="320050"/>
            <a:ext cx="6780300" cy="57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  <p:sp>
        <p:nvSpPr>
          <p:cNvPr id="251" name="Google Shape;251;p40"/>
          <p:cNvSpPr txBox="1"/>
          <p:nvPr>
            <p:ph idx="1" type="body"/>
          </p:nvPr>
        </p:nvSpPr>
        <p:spPr>
          <a:xfrm>
            <a:off x="431050" y="1016425"/>
            <a:ext cx="7810200" cy="34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EXECUTE_BEAD</a:t>
            </a:r>
            <a:r>
              <a:rPr lang="en"/>
              <a:t> — runs the actual coding agent against the bead spec inside a sandboxed, time/progress-supervised loop.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ANALYZE_EXECUTION</a:t>
            </a:r>
            <a:r>
              <a:rPr lang="en"/>
              <a:t> — inspects what EXECUTE_BEAD produced and reports mechanical + hedged-interpretive findings.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COMPRESS_ANALYSIS</a:t>
            </a:r>
            <a:r>
              <a:rPr lang="en"/>
              <a:t> — condenses the analysis/execution history into a compact summary for ADJUDICATE.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ADJUDICATE_NEXT_EXECUTION</a:t>
            </a:r>
            <a:r>
              <a:rPr lang="en"/>
              <a:t> — the decision point: retry as-is, retry revised, reject the tests, re-refine, declare success (mechanically re-verified), or full-stop.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/>
          <p:nvPr>
            <p:ph type="title"/>
          </p:nvPr>
        </p:nvSpPr>
        <p:spPr>
          <a:xfrm>
            <a:off x="685800" y="1065600"/>
            <a:ext cx="3495300" cy="1761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vs Practice</a:t>
            </a:r>
            <a:endParaRPr/>
          </a:p>
        </p:txBody>
      </p:sp>
      <p:sp>
        <p:nvSpPr>
          <p:cNvPr id="257" name="Google Shape;257;p41"/>
          <p:cNvSpPr txBox="1"/>
          <p:nvPr>
            <p:ph idx="1" type="subTitle"/>
          </p:nvPr>
        </p:nvSpPr>
        <p:spPr>
          <a:xfrm>
            <a:off x="685800" y="2841256"/>
            <a:ext cx="3597000" cy="2029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Coordination and Isolation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Ground Truth vs Context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Cascading Failures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Breaking Ties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Model Quirks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Different Failure Modes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How to Make Progress</a:t>
            </a:r>
            <a:endParaRPr/>
          </a:p>
        </p:txBody>
      </p:sp>
      <p:pic>
        <p:nvPicPr>
          <p:cNvPr descr="A frustrated bronze robot causes a messy kitchen disaster while attempting to follow &quot;Grandma's Cake Recipe.&quot;" id="258" name="Google Shape;258;p4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0089" r="10089" t="0"/>
          <a:stretch/>
        </p:blipFill>
        <p:spPr>
          <a:xfrm>
            <a:off x="5235825" y="79500"/>
            <a:ext cx="3824401" cy="4791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 txBox="1"/>
          <p:nvPr>
            <p:ph type="title"/>
          </p:nvPr>
        </p:nvSpPr>
        <p:spPr>
          <a:xfrm>
            <a:off x="685800" y="1065600"/>
            <a:ext cx="4550100" cy="1761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Coordination and Isolation</a:t>
            </a:r>
            <a:endParaRPr/>
          </a:p>
        </p:txBody>
      </p:sp>
      <p:sp>
        <p:nvSpPr>
          <p:cNvPr id="264" name="Google Shape;264;p42"/>
          <p:cNvSpPr txBox="1"/>
          <p:nvPr>
            <p:ph idx="1" type="subTitle"/>
          </p:nvPr>
        </p:nvSpPr>
        <p:spPr>
          <a:xfrm>
            <a:off x="685800" y="3098875"/>
            <a:ext cx="4550100" cy="1619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Smaller models are more easily overwhelmed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Tighter prompts help, but narrow focus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Without connective tissue, small models will lose the plot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Decomposition bridges the gap</a:t>
            </a:r>
            <a:endParaRPr/>
          </a:p>
        </p:txBody>
      </p:sp>
      <p:sp>
        <p:nvSpPr>
          <p:cNvPr id="265" name="Google Shape;265;p42"/>
          <p:cNvSpPr/>
          <p:nvPr>
            <p:ph idx="2" type="pic"/>
          </p:nvPr>
        </p:nvSpPr>
        <p:spPr>
          <a:xfrm>
            <a:off x="5235825" y="79500"/>
            <a:ext cx="3824400" cy="4791300"/>
          </a:xfrm>
          <a:prstGeom prst="rect">
            <a:avLst/>
          </a:prstGeom>
        </p:spPr>
      </p:sp>
      <p:sp>
        <p:nvSpPr>
          <p:cNvPr id="266" name="Google Shape;266;p42"/>
          <p:cNvSpPr txBox="1"/>
          <p:nvPr>
            <p:ph idx="1" type="subTitle"/>
          </p:nvPr>
        </p:nvSpPr>
        <p:spPr>
          <a:xfrm>
            <a:off x="1913327" y="3756196"/>
            <a:ext cx="37500" cy="6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4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lbert Sans Black"/>
              <a:ea typeface="Albert Sans Black"/>
              <a:cs typeface="Albert Sans Black"/>
              <a:sym typeface="Albert Sans Black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/>
          <p:nvPr>
            <p:ph type="title"/>
          </p:nvPr>
        </p:nvSpPr>
        <p:spPr>
          <a:xfrm>
            <a:off x="685800" y="1065600"/>
            <a:ext cx="4550100" cy="1761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Ground Truth &amp; Context</a:t>
            </a:r>
            <a:endParaRPr/>
          </a:p>
        </p:txBody>
      </p:sp>
      <p:sp>
        <p:nvSpPr>
          <p:cNvPr id="272" name="Google Shape;272;p43"/>
          <p:cNvSpPr txBox="1"/>
          <p:nvPr>
            <p:ph idx="1" type="subTitle"/>
          </p:nvPr>
        </p:nvSpPr>
        <p:spPr>
          <a:xfrm>
            <a:off x="685800" y="3098875"/>
            <a:ext cx="4550100" cy="1619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True versus Relevant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Small models will spiral eventually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You have to specify context size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Break up the problem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And also the role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Lean on mechanical checks</a:t>
            </a:r>
            <a:endParaRPr/>
          </a:p>
        </p:txBody>
      </p:sp>
      <p:sp>
        <p:nvSpPr>
          <p:cNvPr id="273" name="Google Shape;273;p43"/>
          <p:cNvSpPr/>
          <p:nvPr>
            <p:ph idx="2" type="pic"/>
          </p:nvPr>
        </p:nvSpPr>
        <p:spPr>
          <a:xfrm>
            <a:off x="5235825" y="79500"/>
            <a:ext cx="3824400" cy="4791300"/>
          </a:xfrm>
          <a:prstGeom prst="rect">
            <a:avLst/>
          </a:prstGeom>
        </p:spPr>
      </p:sp>
      <p:sp>
        <p:nvSpPr>
          <p:cNvPr id="274" name="Google Shape;274;p43"/>
          <p:cNvSpPr txBox="1"/>
          <p:nvPr>
            <p:ph idx="1" type="subTitle"/>
          </p:nvPr>
        </p:nvSpPr>
        <p:spPr>
          <a:xfrm>
            <a:off x="1913327" y="3756196"/>
            <a:ext cx="37500" cy="6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4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lbert Sans Black"/>
              <a:ea typeface="Albert Sans Black"/>
              <a:cs typeface="Albert Sans Black"/>
              <a:sym typeface="Albert Sans Blac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4"/>
          <p:cNvSpPr txBox="1"/>
          <p:nvPr>
            <p:ph type="title"/>
          </p:nvPr>
        </p:nvSpPr>
        <p:spPr>
          <a:xfrm>
            <a:off x="685800" y="1065600"/>
            <a:ext cx="4550100" cy="1761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Cascading Failures</a:t>
            </a:r>
            <a:endParaRPr/>
          </a:p>
        </p:txBody>
      </p:sp>
      <p:sp>
        <p:nvSpPr>
          <p:cNvPr id="280" name="Google Shape;280;p44"/>
          <p:cNvSpPr txBox="1"/>
          <p:nvPr>
            <p:ph idx="1" type="subTitle"/>
          </p:nvPr>
        </p:nvSpPr>
        <p:spPr>
          <a:xfrm>
            <a:off x="685800" y="3098875"/>
            <a:ext cx="4550100" cy="1619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Ratchet is a black box with a lot of trust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EXECUTE trusts REFINE_TESTS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Bead n+1 trusts bead 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Oversight can be fiddly and expensive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EXECUTE can request changes to REFINE_TESTS</a:t>
            </a:r>
            <a:endParaRPr/>
          </a:p>
        </p:txBody>
      </p:sp>
      <p:sp>
        <p:nvSpPr>
          <p:cNvPr id="281" name="Google Shape;281;p44"/>
          <p:cNvSpPr/>
          <p:nvPr>
            <p:ph idx="2" type="pic"/>
          </p:nvPr>
        </p:nvSpPr>
        <p:spPr>
          <a:xfrm>
            <a:off x="5235825" y="79500"/>
            <a:ext cx="3824400" cy="4791300"/>
          </a:xfrm>
          <a:prstGeom prst="rect">
            <a:avLst/>
          </a:prstGeom>
        </p:spPr>
      </p:sp>
      <p:sp>
        <p:nvSpPr>
          <p:cNvPr id="282" name="Google Shape;282;p44"/>
          <p:cNvSpPr txBox="1"/>
          <p:nvPr>
            <p:ph idx="1" type="subTitle"/>
          </p:nvPr>
        </p:nvSpPr>
        <p:spPr>
          <a:xfrm>
            <a:off x="1913327" y="3756196"/>
            <a:ext cx="37500" cy="6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4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lbert Sans Black"/>
              <a:ea typeface="Albert Sans Black"/>
              <a:cs typeface="Albert Sans Black"/>
              <a:sym typeface="Albert Sans Black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5"/>
          <p:cNvSpPr txBox="1"/>
          <p:nvPr>
            <p:ph type="title"/>
          </p:nvPr>
        </p:nvSpPr>
        <p:spPr>
          <a:xfrm>
            <a:off x="685800" y="1065600"/>
            <a:ext cx="4550100" cy="1761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Breaking Ties</a:t>
            </a:r>
            <a:endParaRPr/>
          </a:p>
        </p:txBody>
      </p:sp>
      <p:sp>
        <p:nvSpPr>
          <p:cNvPr id="288" name="Google Shape;288;p45"/>
          <p:cNvSpPr txBox="1"/>
          <p:nvPr>
            <p:ph idx="1" type="subTitle"/>
          </p:nvPr>
        </p:nvSpPr>
        <p:spPr>
          <a:xfrm>
            <a:off x="685800" y="3098875"/>
            <a:ext cx="4550100" cy="1619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 lnSpcReduction="2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Most steps in the process have a critic and a judge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We can also go backwards from </a:t>
            </a:r>
            <a:r>
              <a:rPr lang="en"/>
              <a:t>implementation</a:t>
            </a:r>
            <a:r>
              <a:rPr lang="en"/>
              <a:t> to tests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Overconfidence -&gt; cascading failure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Escalation lets Ratchet pause and ask for human assistance</a:t>
            </a:r>
            <a:endParaRPr/>
          </a:p>
        </p:txBody>
      </p:sp>
      <p:sp>
        <p:nvSpPr>
          <p:cNvPr id="289" name="Google Shape;289;p45"/>
          <p:cNvSpPr/>
          <p:nvPr>
            <p:ph idx="2" type="pic"/>
          </p:nvPr>
        </p:nvSpPr>
        <p:spPr>
          <a:xfrm>
            <a:off x="5235825" y="79500"/>
            <a:ext cx="3824400" cy="4791300"/>
          </a:xfrm>
          <a:prstGeom prst="rect">
            <a:avLst/>
          </a:prstGeom>
        </p:spPr>
      </p:sp>
      <p:sp>
        <p:nvSpPr>
          <p:cNvPr id="290" name="Google Shape;290;p45"/>
          <p:cNvSpPr txBox="1"/>
          <p:nvPr>
            <p:ph idx="1" type="subTitle"/>
          </p:nvPr>
        </p:nvSpPr>
        <p:spPr>
          <a:xfrm>
            <a:off x="1913327" y="3756196"/>
            <a:ext cx="37500" cy="6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4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lbert Sans Black"/>
              <a:ea typeface="Albert Sans Black"/>
              <a:cs typeface="Albert Sans Black"/>
              <a:sym typeface="Albert Sans Blac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6"/>
          <p:cNvSpPr txBox="1"/>
          <p:nvPr>
            <p:ph type="title"/>
          </p:nvPr>
        </p:nvSpPr>
        <p:spPr>
          <a:xfrm>
            <a:off x="431062" y="320050"/>
            <a:ext cx="6780300" cy="57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Quirks</a:t>
            </a:r>
            <a:endParaRPr/>
          </a:p>
        </p:txBody>
      </p:sp>
      <p:sp>
        <p:nvSpPr>
          <p:cNvPr id="296" name="Google Shape;296;p46"/>
          <p:cNvSpPr txBox="1"/>
          <p:nvPr>
            <p:ph idx="1" type="body"/>
          </p:nvPr>
        </p:nvSpPr>
        <p:spPr>
          <a:xfrm>
            <a:off x="431050" y="1016425"/>
            <a:ext cx="7810200" cy="36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qwen2.5-coder:32b-instruct — emits well-formed {"name","arguments"} tool calls as bare JSON in the content channel instead of Ollama's native tool_calls field.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nemotron-cascade-2:30b — /api/show reports capabilities:[tools] and a trivial probe succeeds, but on a real task its XML-based tool-call parser throws a hard error inside Ollama itself.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qwen3:32b — its tool-call syntax (&lt;tool_call&gt;...&lt;/tool_call&gt;) lives inside the same channel that format:"json"'s GBNF grammar constrains, so the grammar blocks it outright (&lt; isn't a valid JSON start char)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glm-4.7-flash — under format:"json", its &lt;think&gt; block never closes (the grammar can't emit &lt;), so it runs away generating ~70K tokens until the client timeout kills it.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muse-glimmer:30b — thinks by default, can't emit &lt;think&gt; under the grammar, and degenerates into structurally-valid-but-empty JSON (beads:[] on a 63KB response) instead.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qwen3.6:35b-a3b under schema-mode — occasionally balloons into 76KB of degenerate repetitive reasoning ("Final Answer.\n\nOkay.\n\nFinal Answer...") that breaks its own JSON with a bad escape; the fix that worked was capping the reasoning field's maxLength, not swapping the model.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qwen3-coder:30b (and the 80b variant) — writes fluently and iterates but never converges a more generous turn budget made it worse (120 turns → thrashing, one run broke a shared type it had no reason to touch). Bigger model, bigger budget both bought nothing.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Only the EXECUTE/WRITE path (muse-glimmer) is confirmed to benefit from Q8 over Q4 — long-horizon codegen where small per-token errors compound. A blanket Q4→Q8 sweep across the rest of the fleet was explicitly rejected: every other blocker found so far was structural (bead sizing, prompt/mechanical gates), not precision-limited.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 qwen3.6:35b-a3b (ADJUDICATE/JUDGE) is a MoE model with only ~3B active parameters — its JSON-truncation-under-load looks more like compute starvation than quantization, and remains an open, not-yet-run bakeoff question (Q4 a3b vs. denser Q4 qwen3:32b).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7"/>
          <p:cNvSpPr txBox="1"/>
          <p:nvPr>
            <p:ph type="title"/>
          </p:nvPr>
        </p:nvSpPr>
        <p:spPr>
          <a:xfrm>
            <a:off x="685800" y="1065600"/>
            <a:ext cx="4550100" cy="1761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Failure Modes</a:t>
            </a:r>
            <a:endParaRPr/>
          </a:p>
        </p:txBody>
      </p:sp>
      <p:sp>
        <p:nvSpPr>
          <p:cNvPr id="302" name="Google Shape;302;p47"/>
          <p:cNvSpPr txBox="1"/>
          <p:nvPr>
            <p:ph idx="1" type="subTitle"/>
          </p:nvPr>
        </p:nvSpPr>
        <p:spPr>
          <a:xfrm>
            <a:off x="685800" y="3098875"/>
            <a:ext cx="4550100" cy="1619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Problem-specific versus Framework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Specification versus Execution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Stochastic versus </a:t>
            </a:r>
            <a:r>
              <a:rPr lang="en"/>
              <a:t>Reproducible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perils of over-fitting</a:t>
            </a:r>
            <a:endParaRPr/>
          </a:p>
        </p:txBody>
      </p:sp>
      <p:sp>
        <p:nvSpPr>
          <p:cNvPr id="303" name="Google Shape;303;p47"/>
          <p:cNvSpPr/>
          <p:nvPr>
            <p:ph idx="2" type="pic"/>
          </p:nvPr>
        </p:nvSpPr>
        <p:spPr>
          <a:xfrm>
            <a:off x="5235825" y="79500"/>
            <a:ext cx="3824400" cy="4791300"/>
          </a:xfrm>
          <a:prstGeom prst="rect">
            <a:avLst/>
          </a:prstGeom>
        </p:spPr>
      </p:sp>
      <p:sp>
        <p:nvSpPr>
          <p:cNvPr id="304" name="Google Shape;304;p47"/>
          <p:cNvSpPr txBox="1"/>
          <p:nvPr>
            <p:ph idx="1" type="subTitle"/>
          </p:nvPr>
        </p:nvSpPr>
        <p:spPr>
          <a:xfrm>
            <a:off x="1913327" y="3756196"/>
            <a:ext cx="37500" cy="6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4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lbert Sans Black"/>
              <a:ea typeface="Albert Sans Black"/>
              <a:cs typeface="Albert Sans Black"/>
              <a:sym typeface="Albert Sans Black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8"/>
          <p:cNvSpPr txBox="1"/>
          <p:nvPr>
            <p:ph type="title"/>
          </p:nvPr>
        </p:nvSpPr>
        <p:spPr>
          <a:xfrm>
            <a:off x="685800" y="1065600"/>
            <a:ext cx="4550100" cy="1761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Make Progress</a:t>
            </a:r>
            <a:endParaRPr/>
          </a:p>
        </p:txBody>
      </p:sp>
      <p:sp>
        <p:nvSpPr>
          <p:cNvPr id="310" name="Google Shape;310;p48"/>
          <p:cNvSpPr txBox="1"/>
          <p:nvPr>
            <p:ph idx="1" type="subTitle"/>
          </p:nvPr>
        </p:nvSpPr>
        <p:spPr>
          <a:xfrm>
            <a:off x="685800" y="3098875"/>
            <a:ext cx="4550100" cy="1619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Framework bugs </a:t>
            </a:r>
            <a:r>
              <a:rPr lang="en"/>
              <a:t>separate</a:t>
            </a:r>
            <a:r>
              <a:rPr lang="en"/>
              <a:t> from test runs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Instrument everything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Only use valid telemetry (version drift)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Run everything twice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 telemetry to isolate and focus</a:t>
            </a:r>
            <a:endParaRPr/>
          </a:p>
        </p:txBody>
      </p:sp>
      <p:sp>
        <p:nvSpPr>
          <p:cNvPr id="311" name="Google Shape;311;p48"/>
          <p:cNvSpPr/>
          <p:nvPr>
            <p:ph idx="2" type="pic"/>
          </p:nvPr>
        </p:nvSpPr>
        <p:spPr>
          <a:xfrm>
            <a:off x="5235825" y="79500"/>
            <a:ext cx="3824400" cy="4791300"/>
          </a:xfrm>
          <a:prstGeom prst="rect">
            <a:avLst/>
          </a:prstGeom>
        </p:spPr>
      </p:sp>
      <p:sp>
        <p:nvSpPr>
          <p:cNvPr id="312" name="Google Shape;312;p48"/>
          <p:cNvSpPr txBox="1"/>
          <p:nvPr>
            <p:ph idx="1" type="subTitle"/>
          </p:nvPr>
        </p:nvSpPr>
        <p:spPr>
          <a:xfrm>
            <a:off x="1913327" y="3756196"/>
            <a:ext cx="37500" cy="6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4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lbert Sans Black"/>
              <a:ea typeface="Albert Sans Black"/>
              <a:cs typeface="Albert Sans Black"/>
              <a:sym typeface="Albert Sans Black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9"/>
          <p:cNvSpPr txBox="1"/>
          <p:nvPr>
            <p:ph type="title"/>
          </p:nvPr>
        </p:nvSpPr>
        <p:spPr>
          <a:xfrm>
            <a:off x="685800" y="1065600"/>
            <a:ext cx="4550100" cy="17616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Steps</a:t>
            </a:r>
            <a:endParaRPr/>
          </a:p>
        </p:txBody>
      </p:sp>
      <p:sp>
        <p:nvSpPr>
          <p:cNvPr id="318" name="Google Shape;318;p49"/>
          <p:cNvSpPr txBox="1"/>
          <p:nvPr>
            <p:ph idx="1" type="subTitle"/>
          </p:nvPr>
        </p:nvSpPr>
        <p:spPr>
          <a:xfrm>
            <a:off x="685800" y="3098875"/>
            <a:ext cx="4550100" cy="1619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CRITIQUE_TESTS is terrible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New model candidates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Fine tune design doc specificity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Extend from greenfield to refactor and debugging</a:t>
            </a:r>
            <a:endParaRPr/>
          </a:p>
        </p:txBody>
      </p:sp>
      <p:pic>
        <p:nvPicPr>
          <p:cNvPr descr="Robot riding a horse on a dirt road at sunset, waving one metallic hand to the camera." id="319" name="Google Shape;319;p4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0089" r="10089" t="0"/>
          <a:stretch/>
        </p:blipFill>
        <p:spPr>
          <a:xfrm>
            <a:off x="5235825" y="79500"/>
            <a:ext cx="3824401" cy="4791300"/>
          </a:xfrm>
          <a:prstGeom prst="rect">
            <a:avLst/>
          </a:prstGeom>
        </p:spPr>
      </p:pic>
      <p:sp>
        <p:nvSpPr>
          <p:cNvPr id="320" name="Google Shape;320;p49"/>
          <p:cNvSpPr txBox="1"/>
          <p:nvPr>
            <p:ph idx="1" type="subTitle"/>
          </p:nvPr>
        </p:nvSpPr>
        <p:spPr>
          <a:xfrm>
            <a:off x="1913327" y="3756196"/>
            <a:ext cx="37500" cy="6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4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Albert Sans Black"/>
              <a:ea typeface="Albert Sans Black"/>
              <a:cs typeface="Albert Sans Black"/>
              <a:sym typeface="Albert Sans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2062"/>
      </a:dk1>
      <a:lt1>
        <a:srgbClr val="FFFFFF"/>
      </a:lt1>
      <a:dk2>
        <a:srgbClr val="CD00FC"/>
      </a:dk2>
      <a:lt2>
        <a:srgbClr val="767676"/>
      </a:lt2>
      <a:accent1>
        <a:srgbClr val="002062"/>
      </a:accent1>
      <a:accent2>
        <a:srgbClr val="CD00FC"/>
      </a:accent2>
      <a:accent3>
        <a:srgbClr val="FF0000"/>
      </a:accent3>
      <a:accent4>
        <a:srgbClr val="E8E8E8"/>
      </a:accent4>
      <a:accent5>
        <a:srgbClr val="E094F1"/>
      </a:accent5>
      <a:accent6>
        <a:srgbClr val="6B7997"/>
      </a:accent6>
      <a:hlink>
        <a:srgbClr val="CD00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